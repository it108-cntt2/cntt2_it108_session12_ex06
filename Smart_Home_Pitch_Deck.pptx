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74128523961435a" /><Relationship Type="http://schemas.openxmlformats.org/officeDocument/2006/relationships/extended-properties" Target="/docProps/app.xml" Id="R287f607dfc7e4dd4" /><Relationship Type="http://schemas.openxmlformats.org/officeDocument/2006/relationships/officeDocument" Target="/ppt/presentation.xml" Id="R92903c3e18d449d1" /></Relationships>
</file>

<file path=ppt/presentation.xml><?xml version="1.0" encoding="utf-8"?>
<p:presentation xmlns:p="http://schemas.openxmlformats.org/presentationml/2006/main">
  <p:sldMasterIdLst>
    <p:sldMasterId xmlns:r="http://schemas.openxmlformats.org/officeDocument/2006/relationships" id="2147483648" r:id="R0c8c8b770bb8475e"/>
  </p:sldMasterIdLst>
  <p:notesMasterIdLst>
    <p:notesMasterId xmlns:r="http://schemas.openxmlformats.org/officeDocument/2006/relationships" r:id="R11d7d6778fd7477f"/>
  </p:notesMasterIdLst>
  <p:sldIdLst>
    <p:sldId xmlns:r="http://schemas.openxmlformats.org/officeDocument/2006/relationships" id="256" r:id="Rd53cb15d50144b57"/>
    <p:sldId xmlns:r="http://schemas.openxmlformats.org/officeDocument/2006/relationships" id="257" r:id="R7fa6620c33f94b99"/>
    <p:sldId xmlns:r="http://schemas.openxmlformats.org/officeDocument/2006/relationships" id="258" r:id="R04691fe23c274fd2"/>
    <p:sldId xmlns:r="http://schemas.openxmlformats.org/officeDocument/2006/relationships" id="259" r:id="R76e457353ee84418"/>
    <p:sldId xmlns:r="http://schemas.openxmlformats.org/officeDocument/2006/relationships" id="260" r:id="R0a9d56fb536d43c2"/>
    <p:sldId xmlns:r="http://schemas.openxmlformats.org/officeDocument/2006/relationships" id="261" r:id="R34ea2c942ea245e1"/>
    <p:sldId xmlns:r="http://schemas.openxmlformats.org/officeDocument/2006/relationships" id="262" r:id="Ra0298192781b4b16"/>
    <p:sldId xmlns:r="http://schemas.openxmlformats.org/officeDocument/2006/relationships" id="263" r:id="R1d3364b1a7c14614"/>
    <p:sldId xmlns:r="http://schemas.openxmlformats.org/officeDocument/2006/relationships" id="264" r:id="Re1c162ebec994f8d"/>
    <p:sldId xmlns:r="http://schemas.openxmlformats.org/officeDocument/2006/relationships" id="265" r:id="R8e4a2d54f4b84ee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3bb34d3809444c3" /><Relationship Type="http://schemas.openxmlformats.org/officeDocument/2006/relationships/slideMaster" Target="/ppt/slideMasters/slideMaster1.xml" Id="R0c8c8b770bb8475e" /><Relationship Type="http://schemas.openxmlformats.org/officeDocument/2006/relationships/notesMaster" Target="/ppt/notesMasters/notesMaster1.xml" Id="R11d7d6778fd7477f" /><Relationship Type="http://schemas.openxmlformats.org/officeDocument/2006/relationships/presProps" Target="/ppt/presProps.xml" Id="Raba6ac1c94654e48" /><Relationship Type="http://schemas.openxmlformats.org/officeDocument/2006/relationships/tableStyles" Target="/ppt/tableStyles.xml" Id="R866c158cbc6c4e5d" /><Relationship Type="http://schemas.openxmlformats.org/officeDocument/2006/relationships/slide" Target="/ppt/slides/slide1.xml" Id="Rd53cb15d50144b57" /><Relationship Type="http://schemas.openxmlformats.org/officeDocument/2006/relationships/slide" Target="/ppt/slides/slide2.xml" Id="R7fa6620c33f94b99" /><Relationship Type="http://schemas.openxmlformats.org/officeDocument/2006/relationships/slide" Target="/ppt/slides/slide3.xml" Id="R04691fe23c274fd2" /><Relationship Type="http://schemas.openxmlformats.org/officeDocument/2006/relationships/slide" Target="/ppt/slides/slide4.xml" Id="R76e457353ee84418" /><Relationship Type="http://schemas.openxmlformats.org/officeDocument/2006/relationships/slide" Target="/ppt/slides/slide5.xml" Id="R0a9d56fb536d43c2" /><Relationship Type="http://schemas.openxmlformats.org/officeDocument/2006/relationships/slide" Target="/ppt/slides/slide6.xml" Id="R34ea2c942ea245e1" /><Relationship Type="http://schemas.openxmlformats.org/officeDocument/2006/relationships/slide" Target="/ppt/slides/slide7.xml" Id="Ra0298192781b4b16" /><Relationship Type="http://schemas.openxmlformats.org/officeDocument/2006/relationships/slide" Target="/ppt/slides/slide8.xml" Id="R1d3364b1a7c14614" /><Relationship Type="http://schemas.openxmlformats.org/officeDocument/2006/relationships/slide" Target="/ppt/slides/slide9.xml" Id="Re1c162ebec994f8d" /><Relationship Type="http://schemas.openxmlformats.org/officeDocument/2006/relationships/slide" Target="/ppt/slides/slide10.xml" Id="R8e4a2d54f4b84e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10d59dd773436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7435ae15e1d44e4" /><Relationship Type="http://schemas.openxmlformats.org/officeDocument/2006/relationships/notesMaster" Target="/ppt/notesMasters/notesMaster1.xml" Id="R22ed84a6896a4ff4"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2ccaebe0be4e83" /><Relationship Type="http://schemas.openxmlformats.org/officeDocument/2006/relationships/notesMaster" Target="/ppt/notesMasters/notesMaster1.xml" Id="R1cc5517f32ce4b0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88360581cb4d59" /><Relationship Type="http://schemas.openxmlformats.org/officeDocument/2006/relationships/notesMaster" Target="/ppt/notesMasters/notesMaster1.xml" Id="Ra279815e7d534ea0" /></Relationships>
</file>

<file path=ppt/notesSlides/_rels/notesSlide4.xml.rels>&#65279;<?xml version="1.0" encoding="utf-8"?><Relationships xmlns="http://schemas.openxmlformats.org/package/2006/relationships"><Relationship Type="http://schemas.openxmlformats.org/officeDocument/2006/relationships/slide" Target="/ppt/slides/slide4.xml" Id="R40f454a8b5d74b62" /><Relationship Type="http://schemas.openxmlformats.org/officeDocument/2006/relationships/notesMaster" Target="/ppt/notesMasters/notesMaster1.xml" Id="Raa6429b30c18427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502c876e84343ae" /><Relationship Type="http://schemas.openxmlformats.org/officeDocument/2006/relationships/notesMaster" Target="/ppt/notesMasters/notesMaster1.xml" Id="R9278945560cc43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7494ef867f6748f3" /><Relationship Type="http://schemas.openxmlformats.org/officeDocument/2006/relationships/notesMaster" Target="/ppt/notesMasters/notesMaster1.xml" Id="R3b6b9dfe81ce447c" /></Relationships>
</file>

<file path=ppt/notesSlides/_rels/notesSlide7.xml.rels>&#65279;<?xml version="1.0" encoding="utf-8"?><Relationships xmlns="http://schemas.openxmlformats.org/package/2006/relationships"><Relationship Type="http://schemas.openxmlformats.org/officeDocument/2006/relationships/slide" Target="/ppt/slides/slide7.xml" Id="Rb42c740417a54b8a" /><Relationship Type="http://schemas.openxmlformats.org/officeDocument/2006/relationships/notesMaster" Target="/ppt/notesMasters/notesMaster1.xml" Id="Rf36c4396027d4789" /></Relationships>
</file>

<file path=ppt/notesSlides/_rels/notesSlide8.xml.rels>&#65279;<?xml version="1.0" encoding="utf-8"?><Relationships xmlns="http://schemas.openxmlformats.org/package/2006/relationships"><Relationship Type="http://schemas.openxmlformats.org/officeDocument/2006/relationships/slide" Target="/ppt/slides/slide8.xml" Id="R44d69f022f884243" /><Relationship Type="http://schemas.openxmlformats.org/officeDocument/2006/relationships/notesMaster" Target="/ppt/notesMasters/notesMaster1.xml" Id="R5729ae0b3a3c44b3" /></Relationships>
</file>

<file path=ppt/notesSlides/_rels/notesSlide9.xml.rels>&#65279;<?xml version="1.0" encoding="utf-8"?><Relationships xmlns="http://schemas.openxmlformats.org/package/2006/relationships"><Relationship Type="http://schemas.openxmlformats.org/officeDocument/2006/relationships/slide" Target="/ppt/slides/slide9.xml" Id="R98ea935930fa4077" /><Relationship Type="http://schemas.openxmlformats.org/officeDocument/2006/relationships/notesMaster" Target="/ppt/notesMasters/notesMaster1.xml" Id="Rc03f81e8c2b5444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b9facb7ab7542fd" /><Relationship Type="http://schemas.openxmlformats.org/officeDocument/2006/relationships/notesMaster" Target="/ppt/notesMasters/notesMaster1.xml" Id="Rdc0393e835cb49e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Thời lượng 1 phút.</a:t>
            </a:r>
          </a:p>
          <a:p xmlns:a="http://schemas.openxmlformats.org/drawingml/2006/main">
            <a:r>
              <a:t>Giới thiệu Smart-Home là nền tảng đề xuất dành cho người có nhu cầu bán và người mua nhà đất. Bộ hồ sơ hiện ở giai đoạn ý tưởng và thiết kế MVP. Tất cả số liệu kinh doanh trong bài trình bày là giả định để thảo luận, chưa phải kết quả vận hành. Sản phẩm tập trung vào việc ghi nhận một quá trình trả giá có thể kiểm tra. Mở đầu bằng ví dụ một người mua không biết giá mình nhìn thấy còn hiệu lực hay không.</a:t>
            </a:r>
          </a:p>
          <a:p xmlns:a="http://schemas.openxmlformats.org/drawingml/2006/main">
            <a:r>
              <a:t>Nguồn: đề bài Smart-Home do người học cung cấp. Số liệu và mục tiêu là giả định của bài tập.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Thời lượng 2 phút.</a:t>
            </a:r>
          </a:p>
          <a:p xmlns:a="http://schemas.openxmlformats.org/drawingml/2006/main">
            <a:r>
              <a:t>Giả thuyết ban đầu là thông tin bất động sản thiếu nhất quán và lịch sử thương lượng khó kiểm tra làm người mua mất thời gian. Chưa có dữ liệu khảo sát để khẳng định quy mô vấn đề. Kế hoạch là phỏng vấn 20 người mua và 10 chủ tài sản hoặc môi giới, ghi nhận thời gian xác minh, các lần thông tin sai và mức sẵn lòng trả phí. Nếu vấn đề không nằm trong nhóm ưu tiên, phải điều chỉnh sản phẩm trước khi xây đầy đủ.</a:t>
            </a:r>
          </a:p>
          <a:p xmlns:a="http://schemas.openxmlformats.org/drawingml/2006/main">
            <a:r>
              <a:t>Nguồn: đề bài Smart-Home do người học cung cấp. Số liệu và mục tiêu là giả định của bài tập.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Thời lượng 2 phút.</a:t>
            </a:r>
          </a:p>
          <a:p xmlns:a="http://schemas.openxmlformats.org/drawingml/2006/main">
            <a:r>
              <a:t>Chọn một khu vực nhỏ tại TP.HCM và căn hộ có hồ sơ đầy đủ để giảm khác biệt trong quy trình thẩm định. Chủ tài sản có nhu cầu bán là bên cung, người mua đủ điều kiện là bên cầu. Môi giới hỗ trợ đưa tài sản vào hệ thống. Đây là lựa chọn triển khai ban đầu, chưa phải kết luận về thị trường. Dùng nhóm khách hàng cụ thể để xây quy trình xác minh và kiểm tra khả năng ghép cung cầu trước khi mở sang đất hoặc nhà phố.</a:t>
            </a:r>
          </a:p>
          <a:p xmlns:a="http://schemas.openxmlformats.org/drawingml/2006/main">
            <a:r>
              <a:t>Nguồn: đề bài Smart-Home do người học cung cấp. Số liệu và mục tiêu là giả định của bài tập.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Thời lượng 2 phút.</a:t>
            </a:r>
          </a:p>
          <a:p xmlns:a="http://schemas.openxmlformats.org/drawingml/2006/main">
            <a:r>
              <a:t>Minh họa hành trình một người mua: tìm tài sản, đọc thông tin và tài liệu được phép xem, đăng ký dự phiên, kiểm tra điều kiện tham gia, đặt giá và nhận xác nhận từ máy chủ. Người mua nhìn thấy mức giá đã chấp nhận và thời điểm kết thúc theo giờ máy chủ. Thông tin người tham gia được ẩn phù hợp. Bộ Excel chỉ quản lý giá đề xuất và hoa hồng, không đóng vai trò máy chủ đấu giá.</a:t>
            </a:r>
          </a:p>
          <a:p xmlns:a="http://schemas.openxmlformats.org/drawingml/2006/main">
            <a:r>
              <a:t>Nguồn: đề bài Smart-Home do người học cung cấp. Số liệu và mục tiêu là giả định của bài tập.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Thời lượng 2 phút.</a:t>
            </a:r>
          </a:p>
          <a:p xmlns:a="http://schemas.openxmlformats.org/drawingml/2006/main">
            <a:r>
              <a:t>Giải thích vì sao giao diện đếm ngược không quyết định hiệu lực của một lệnh. Máy chủ kiểm tra thời gian, quyền tham gia, mức tăng giá và trạng thái phiên trong cùng giao dịch dữ liệu. Hai lệnh đồng thời được máy chủ tuần tự hóa. Mỗi yêu cầu có khóa chống ghi lặp. Nhật ký ghi nhận cả lệnh chấp nhận và lý do từ chối. Đây là các yêu cầu thiết kế trong SRS, chưa phải tính năng đã chạy.</a:t>
            </a:r>
          </a:p>
          <a:p xmlns:a="http://schemas.openxmlformats.org/drawingml/2006/main">
            <a:r>
              <a:t>Nguồn: đề bài Smart-Home do người học cung cấp. Số liệu và mục tiêu là giả định của bài tập.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Thời lượng 2 phút.</a:t>
            </a:r>
          </a:p>
          <a:p xmlns:a="http://schemas.openxmlformats.org/drawingml/2006/main">
            <a:r>
              <a:t>Mô hình đề xuất thu phí nền tảng khi giao dịch đáp ứng điều kiện ghi nhận. Giả định giá trị giao dịch 2 tỷ đồng và tỷ lệ phí nền tảng 0,25% cho doanh thu 5 triệu đồng trước chi phí và thuế. Không gọi đây là lợi nhuận. Phí này tách biệt hoa hồng môi giới 1% đến 2% trong bảng Excel. Cần kiểm tra người trả phí, điều kiện hoàn phí, chi phí thu hút khách hàng và chi phí thẩm định trước khi kết luận mô hình có lãi.</a:t>
            </a:r>
          </a:p>
          <a:p xmlns:a="http://schemas.openxmlformats.org/drawingml/2006/main">
            <a:r>
              <a:t>Nguồn: đề bài Smart-Home do người học cung cấp. Số liệu và mục tiêu là giả định của bài tập.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Thời lượng 2 phút.</a:t>
            </a:r>
          </a:p>
          <a:p xmlns:a="http://schemas.openxmlformats.org/drawingml/2006/main">
            <a:r>
              <a:t>Đề xuất thử nghiệm với 10 chủ tài sản và 50 người mua đủ điều kiện. Mục tiêu 3 giao dịch hoàn tất dùng để đánh giá khả năng chuyển đổi, không phải cam kết doanh số. Đo số hồ sơ được duyệt, người đủ điều kiện, người thực sự đặt giá và giao dịch hoàn tất. Theo dõi chi phí thu hút trên từng người đủ điều kiện và từng giao dịch, thay vì chỉ xem lượt truy cập. Kênh khởi đầu là hợp tác với môi giới và nhóm khách hàng địa phương.</a:t>
            </a:r>
          </a:p>
          <a:p xmlns:a="http://schemas.openxmlformats.org/drawingml/2006/main">
            <a:r>
              <a:t>Nguồn: đề bài Smart-Home do người học cung cấp. Số liệu và mục tiêu là giả định của bài tập.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Thời lượng 2 phút.</a:t>
            </a:r>
          </a:p>
          <a:p xmlns:a="http://schemas.openxmlformats.org/drawingml/2006/main">
            <a:r>
              <a:t>Tháng đầu hoàn thiện phỏng vấn, quy trình và đặc tả. Tháng 2 đến 3 xây MVP, kiểm thử đồng thời và phục hồi dữ liệu. Tháng 4 chuẩn bị hồ sơ và diễn tập phiên. Tháng 5 đến 6 chạy pilot và đo kết quả. Chỉ mở rộng khi đáp ứng tiêu chí kỹ thuật và có bằng chứng nhu cầu. Các vai trò cần có gồm sản phẩm và kỹ thuật, vận hành xác minh cùng chuyên gia rà soát điều kiện triển khai. Chưa nêu tên thành viên vì nhóm chưa cung cấp.</a:t>
            </a:r>
          </a:p>
          <a:p xmlns:a="http://schemas.openxmlformats.org/drawingml/2006/main">
            <a:r>
              <a:t>Nguồn: đề bài Smart-Home do người học cung cấp. Số liệu và mục tiêu là giả định của bài tập.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Thời lượng 2 phút.</a:t>
            </a:r>
          </a:p>
          <a:p xmlns:a="http://schemas.openxmlformats.org/drawingml/2006/main">
            <a:r>
              <a:t>Rủi ro lớn gồm hồ sơ tài sản không đầy đủ, thiếu người tham gia thực sự và gián đoạn lúc trả giá. Với từng rủi ro, nhóm xây điều kiện duyệt hồ sơ, xác nhận người mua, theo dõi sức khỏe hệ thống và quy trình xử lý khiếu nại. Trước khi tổ chức giao dịch thật, cần rà soát điều kiện pháp lý và mô hình phối hợp với bên có thẩm quyền phù hợp. Đây là điều kiện dự án, không phải tuyên bố nền tảng đã được phép tổ chức đấu giá.</a:t>
            </a:r>
          </a:p>
          <a:p xmlns:a="http://schemas.openxmlformats.org/drawingml/2006/main">
            <a:r>
              <a:t>Nguồn: đề bài Smart-Home do người học cung cấp. Số liệu và mục tiêu là giả định của bài tập.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Thời lượng 3 phút.</a:t>
            </a:r>
          </a:p>
          <a:p xmlns:a="http://schemas.openxmlformats.org/drawingml/2006/main">
            <a:r>
              <a:t>Khoản gọi vốn minh họa là 600 triệu đồng cho sáu tháng, phân bổ 360 triệu cho phát triển sản phẩm, 150 triệu cho vận hành và tiếp cận khách hàng pilot, 90 triệu dự phòng. Tổng bằng 600 triệu. Chưa đề xuất tỷ lệ cổ phần hay định giá vì chưa có căn cứ. Kết quả dự kiến để báo cáo nhà đầu tư là MVP có kiểm thử, quy trình vận hành và số liệu pilot. Nếu đạt 3 giao dịch theo mô hình phí ở slide 6 thì doanh thu minh họa chỉ là 15 triệu đồng, chưa bù ngân sách. Dành phần cuối hỏi phản hồi về giả thuyết và tiêu chí quyết định vòng tiếp theo.</a:t>
            </a:r>
          </a:p>
          <a:p xmlns:a="http://schemas.openxmlformats.org/drawingml/2006/main">
            <a:r>
              <a:t>Nguồn: đề bài Smart-Home do người học cung cấp. Số liệu và mục tiêu là giả định của bài tập.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d33f126026482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68f8153086d45e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dbd4babdd684d3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c9addf5268f45d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4afc3a0c517474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0d6ad1790af46d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2EEF09-02D5-41DA-9C02-7A22A0D7E8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277D8CC-10C6-4223-8D19-E21FA72E484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D9FD9EA-9AB2-4CBF-9EDC-64DCDB516F5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CC00E0A-8532-4BA6-9F74-6FA37A2170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58BE94C-50E0-4EB2-A9DB-E3F750F26EB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DF2F9AE-8B10-43BA-A9AD-38BEB71E9B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6D0278C-4874-4344-B5BF-FEBA6618E94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8224F9C-6D42-46B5-A97B-294C48C1025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D1599C-900C-40C5-8417-D9A3A827173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A7E580-CF3F-46A8-ADCB-9FE35B687B1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82c49e775847b7" /><Relationship Type="http://schemas.openxmlformats.org/officeDocument/2006/relationships/slideLayout" Target="/ppt/slideLayouts/slideLayout1.xml" Id="R43c9362894bc4808" /><Relationship Type="http://schemas.openxmlformats.org/officeDocument/2006/relationships/slideLayout" Target="/ppt/slideLayouts/slideLayout2.xml" Id="R3746ca16c69b4824" /><Relationship Type="http://schemas.openxmlformats.org/officeDocument/2006/relationships/slideLayout" Target="/ppt/slideLayouts/slideLayout3.xml" Id="Ra518695ca7f44183" /><Relationship Type="http://schemas.openxmlformats.org/officeDocument/2006/relationships/slideLayout" Target="/ppt/slideLayouts/slideLayout4.xml" Id="Rcf48fd981fb24fd6" /><Relationship Type="http://schemas.openxmlformats.org/officeDocument/2006/relationships/slideLayout" Target="/ppt/slideLayouts/slideLayout5.xml" Id="R4d4da8755fca4fdb" /><Relationship Type="http://schemas.openxmlformats.org/officeDocument/2006/relationships/slideLayout" Target="/ppt/slideLayouts/slideLayout6.xml" Id="R3dbd4db10d83430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c9362894bc4808"/>
    <p:sldLayoutId xmlns:r="http://schemas.openxmlformats.org/officeDocument/2006/relationships" id="2147483650" r:id="R3746ca16c69b4824"/>
    <p:sldLayoutId xmlns:r="http://schemas.openxmlformats.org/officeDocument/2006/relationships" id="2147483651" r:id="Ra518695ca7f44183"/>
    <p:sldLayoutId xmlns:r="http://schemas.openxmlformats.org/officeDocument/2006/relationships" id="2147483652" r:id="Rcf48fd981fb24fd6"/>
    <p:sldLayoutId xmlns:r="http://schemas.openxmlformats.org/officeDocument/2006/relationships" id="2147483653" r:id="R4d4da8755fca4fdb"/>
    <p:sldLayoutId xmlns:r="http://schemas.openxmlformats.org/officeDocument/2006/relationships" id="2147483654" r:id="R3dbd4db10d83430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057841b734a4d29" /><Relationship Type="http://schemas.openxmlformats.org/officeDocument/2006/relationships/notesSlide" Target="/ppt/notesSlides/notesSlide1.xml" Id="Reb9ae81bfdc44e9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7f21db0b25c40f0" /><Relationship Type="http://schemas.openxmlformats.org/officeDocument/2006/relationships/notesSlide" Target="/ppt/notesSlides/notesSlide2.xml" Id="Rd21010e9be4041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b98c91d53af4b6b" /><Relationship Type="http://schemas.openxmlformats.org/officeDocument/2006/relationships/notesSlide" Target="/ppt/notesSlides/notesSlide3.xml" Id="R04040001f6a744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8d44a980f47411b" /><Relationship Type="http://schemas.openxmlformats.org/officeDocument/2006/relationships/notesSlide" Target="/ppt/notesSlides/notesSlide4.xml" Id="R74fca013e61b45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9d88b8b6f2444b7" /><Relationship Type="http://schemas.openxmlformats.org/officeDocument/2006/relationships/notesSlide" Target="/ppt/notesSlides/notesSlide5.xml" Id="Rcf154f07781d4bf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86d55c9f1a14140" /><Relationship Type="http://schemas.openxmlformats.org/officeDocument/2006/relationships/notesSlide" Target="/ppt/notesSlides/notesSlide6.xml" Id="R00aa8e7603ad4ba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a6f2360c7f4497e" /><Relationship Type="http://schemas.openxmlformats.org/officeDocument/2006/relationships/notesSlide" Target="/ppt/notesSlides/notesSlide7.xml" Id="R06491e727bf547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78a9897d21e468b" /><Relationship Type="http://schemas.openxmlformats.org/officeDocument/2006/relationships/notesSlide" Target="/ppt/notesSlides/notesSlide8.xml" Id="R48bac5df3406400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f6764f16d1641a3" /><Relationship Type="http://schemas.openxmlformats.org/officeDocument/2006/relationships/notesSlide" Target="/ppt/notesSlides/notesSlide9.xml" Id="R83b3231d9bc74b9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e7f9fbbf7d8461a" /><Relationship Type="http://schemas.openxmlformats.org/officeDocument/2006/relationships/notesSlide" Target="/ppt/notesSlides/notesSlide10.xml" Id="Ra507776b480c4740" /></Relationships>
</file>

<file path=ppt/slides/slide1.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74784EA-1843-4AEF-B01E-658E01237D96}"/>
              </a:ext>
            </a:extLst>
          </p:cNvPr>
          <p:cNvSpPr>
            <a:spLocks xmlns:a="http://schemas.openxmlformats.org/drawingml/2006/main" noGrp="1"/>
          </p:cNvSpPr>
          <p:nvPr/>
        </p:nvSpPr>
        <p:spPr>
          <a:xfrm xmlns:a="http://schemas.openxmlformats.org/drawingml/2006/main">
            <a:off x="762000" y="55245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300" b="1">
                <a:solidFill>
                  <a:srgbClr val="FFFFFF"/>
                </a:solidFill>
                <a:latin typeface="Inter"/>
                <a:ea typeface="Inter"/>
                <a:cs typeface="Inter"/>
              </a:defRPr>
            </a:defPPr>
            <a:lvl1pPr>
              <a:defRPr sz="3300" b="1">
                <a:solidFill>
                  <a:srgbClr val="FFFFFF"/>
                </a:solidFill>
                <a:latin typeface="Inter"/>
                <a:ea typeface="Inter"/>
                <a:cs typeface="Inter"/>
              </a:defRPr>
            </a:lvl1pPr>
            <a:lvl2pPr>
              <a:defRPr sz="3300" b="1">
                <a:solidFill>
                  <a:srgbClr val="FFFFFF"/>
                </a:solidFill>
                <a:latin typeface="Inter"/>
                <a:ea typeface="Inter"/>
                <a:cs typeface="Inter"/>
              </a:defRPr>
            </a:lvl2pPr>
            <a:lvl3pPr>
              <a:defRPr sz="3300" b="1">
                <a:solidFill>
                  <a:srgbClr val="FFFFFF"/>
                </a:solidFill>
                <a:latin typeface="Inter"/>
                <a:ea typeface="Inter"/>
                <a:cs typeface="Inter"/>
              </a:defRPr>
            </a:lvl3pPr>
            <a:lvl4pPr>
              <a:defRPr sz="3300" b="1">
                <a:solidFill>
                  <a:srgbClr val="FFFFFF"/>
                </a:solidFill>
                <a:latin typeface="Inter"/>
                <a:ea typeface="Inter"/>
                <a:cs typeface="Inter"/>
              </a:defRPr>
            </a:lvl4pPr>
            <a:lvl5pPr>
              <a:defRPr sz="3300" b="1">
                <a:solidFill>
                  <a:srgbClr val="FFFFFF"/>
                </a:solidFill>
                <a:latin typeface="Inter"/>
                <a:ea typeface="Inter"/>
                <a:cs typeface="Inter"/>
              </a:defRPr>
            </a:lvl5pPr>
            <a:lvl6pPr>
              <a:defRPr sz="3300" b="1">
                <a:solidFill>
                  <a:srgbClr val="FFFFFF"/>
                </a:solidFill>
                <a:latin typeface="Inter"/>
                <a:ea typeface="Inter"/>
                <a:cs typeface="Inter"/>
              </a:defRPr>
            </a:lvl6pPr>
            <a:lvl7pPr>
              <a:defRPr sz="3300" b="1">
                <a:solidFill>
                  <a:srgbClr val="FFFFFF"/>
                </a:solidFill>
                <a:latin typeface="Inter"/>
                <a:ea typeface="Inter"/>
                <a:cs typeface="Inter"/>
              </a:defRPr>
            </a:lvl7pPr>
            <a:lvl8pPr>
              <a:defRPr sz="3300" b="1">
                <a:solidFill>
                  <a:srgbClr val="FFFFFF"/>
                </a:solidFill>
                <a:latin typeface="Inter"/>
                <a:ea typeface="Inter"/>
                <a:cs typeface="Inter"/>
              </a:defRPr>
            </a:lvl8pPr>
            <a:lvl9pPr>
              <a:defRPr sz="3300" b="1">
                <a:solidFill>
                  <a:srgbClr val="FFFFFF"/>
                </a:solidFill>
                <a:latin typeface="Inter"/>
                <a:ea typeface="Inter"/>
                <a:cs typeface="Inter"/>
              </a:defRPr>
            </a:lvl9pPr>
          </a:lstStyle>
          <a:p xmlns:a="http://schemas.openxmlformats.org/drawingml/2006/main">
            <a:pPr>
              <a:defRPr sz="3300" b="1">
                <a:solidFill>
                  <a:srgbClr val="FFFFFF"/>
                </a:solidFill>
                <a:latin typeface="Inter"/>
                <a:ea typeface="Inter"/>
                <a:cs typeface="Inter"/>
              </a:defRPr>
            </a:pPr>
            <a:r>
              <a:rPr sz="3300" b="1">
                <a:solidFill>
                  <a:srgbClr val="FFFFFF"/>
                </a:solidFill>
                <a:latin typeface="Inter"/>
                <a:ea typeface="Inter"/>
                <a:cs typeface="Inter"/>
              </a:rPr>
              <a:t>Smart-Home</a:t>
            </a:r>
          </a:p>
        </p:txBody>
      </p:sp>
      <p:sp>
        <p:nvSpPr>
          <p:cNvPr id="2" name="main-message">
            <a:extLst xmlns:a="http://schemas.openxmlformats.org/drawingml/2006/main">
              <a:ext uri="{FF2B5EF4-FFF2-40B4-BE49-F238E27FC236}">
                <a16:creationId xmlns:a16="http://schemas.microsoft.com/office/drawing/2014/main" id="{6A6A1BB5-E1A5-49CC-9C8B-CE61198CC8C0}"/>
              </a:ext>
            </a:extLst>
          </p:cNvPr>
          <p:cNvSpPr>
            <a:spLocks xmlns:a="http://schemas.openxmlformats.org/drawingml/2006/main" noGrp="1"/>
          </p:cNvSpPr>
          <p:nvPr/>
        </p:nvSpPr>
        <p:spPr>
          <a:xfrm xmlns:a="http://schemas.openxmlformats.org/drawingml/2006/main">
            <a:off x="762000" y="1762125"/>
            <a:ext cx="106680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5400" b="1">
                <a:solidFill>
                  <a:srgbClr val="FFFFFF"/>
                </a:solidFill>
                <a:latin typeface="Inter"/>
                <a:ea typeface="Inter"/>
                <a:cs typeface="Inter"/>
              </a:defRPr>
            </a:defPPr>
            <a:lvl1pPr>
              <a:defRPr sz="5400" b="1">
                <a:solidFill>
                  <a:srgbClr val="FFFFFF"/>
                </a:solidFill>
                <a:latin typeface="Inter"/>
                <a:ea typeface="Inter"/>
                <a:cs typeface="Inter"/>
              </a:defRPr>
            </a:lvl1pPr>
            <a:lvl2pPr>
              <a:defRPr sz="5400" b="1">
                <a:solidFill>
                  <a:srgbClr val="FFFFFF"/>
                </a:solidFill>
                <a:latin typeface="Inter"/>
                <a:ea typeface="Inter"/>
                <a:cs typeface="Inter"/>
              </a:defRPr>
            </a:lvl2pPr>
            <a:lvl3pPr>
              <a:defRPr sz="5400" b="1">
                <a:solidFill>
                  <a:srgbClr val="FFFFFF"/>
                </a:solidFill>
                <a:latin typeface="Inter"/>
                <a:ea typeface="Inter"/>
                <a:cs typeface="Inter"/>
              </a:defRPr>
            </a:lvl3pPr>
            <a:lvl4pPr>
              <a:defRPr sz="5400" b="1">
                <a:solidFill>
                  <a:srgbClr val="FFFFFF"/>
                </a:solidFill>
                <a:latin typeface="Inter"/>
                <a:ea typeface="Inter"/>
                <a:cs typeface="Inter"/>
              </a:defRPr>
            </a:lvl4pPr>
            <a:lvl5pPr>
              <a:defRPr sz="5400" b="1">
                <a:solidFill>
                  <a:srgbClr val="FFFFFF"/>
                </a:solidFill>
                <a:latin typeface="Inter"/>
                <a:ea typeface="Inter"/>
                <a:cs typeface="Inter"/>
              </a:defRPr>
            </a:lvl5pPr>
            <a:lvl6pPr>
              <a:defRPr sz="5400" b="1">
                <a:solidFill>
                  <a:srgbClr val="FFFFFF"/>
                </a:solidFill>
                <a:latin typeface="Inter"/>
                <a:ea typeface="Inter"/>
                <a:cs typeface="Inter"/>
              </a:defRPr>
            </a:lvl6pPr>
            <a:lvl7pPr>
              <a:defRPr sz="5400" b="1">
                <a:solidFill>
                  <a:srgbClr val="FFFFFF"/>
                </a:solidFill>
                <a:latin typeface="Inter"/>
                <a:ea typeface="Inter"/>
                <a:cs typeface="Inter"/>
              </a:defRPr>
            </a:lvl7pPr>
            <a:lvl8pPr>
              <a:defRPr sz="5400" b="1">
                <a:solidFill>
                  <a:srgbClr val="FFFFFF"/>
                </a:solidFill>
                <a:latin typeface="Inter"/>
                <a:ea typeface="Inter"/>
                <a:cs typeface="Inter"/>
              </a:defRPr>
            </a:lvl8pPr>
            <a:lvl9pPr>
              <a:defRPr sz="5400" b="1">
                <a:solidFill>
                  <a:srgbClr val="FFFFFF"/>
                </a:solidFill>
                <a:latin typeface="Inter"/>
                <a:ea typeface="Inter"/>
                <a:cs typeface="Inter"/>
              </a:defRPr>
            </a:lvl9pPr>
          </a:lstStyle>
          <a:p xmlns:a="http://schemas.openxmlformats.org/drawingml/2006/main">
            <a:pPr>
              <a:defRPr sz="5400" b="1">
                <a:solidFill>
                  <a:srgbClr val="FFFFFF"/>
                </a:solidFill>
                <a:latin typeface="Inter"/>
                <a:ea typeface="Inter"/>
                <a:cs typeface="Inter"/>
              </a:defRPr>
            </a:pPr>
            <a:r>
              <a:rPr sz="5400" b="1">
                <a:solidFill>
                  <a:srgbClr val="FFFFFF"/>
                </a:solidFill>
                <a:latin typeface="Inter"/>
                <a:ea typeface="Inter"/>
                <a:cs typeface="Inter"/>
              </a:rPr>
              <a:t>Đấu giá nhà đất</a:t>
            </a:r>
          </a:p>
          <a:p xmlns:a="http://schemas.openxmlformats.org/drawingml/2006/main">
            <a:pPr>
              <a:defRPr sz="5400" b="1">
                <a:solidFill>
                  <a:srgbClr val="FFFFFF"/>
                </a:solidFill>
                <a:latin typeface="Inter"/>
                <a:ea typeface="Inter"/>
                <a:cs typeface="Inter"/>
              </a:defRPr>
            </a:pPr>
            <a:r>
              <a:rPr sz="5400" b="1">
                <a:solidFill>
                  <a:srgbClr val="FFFFFF"/>
                </a:solidFill>
                <a:latin typeface="Inter"/>
                <a:ea typeface="Inter"/>
                <a:cs typeface="Inter"/>
              </a:rPr>
              <a:t>trực tuyến</a:t>
            </a:r>
          </a:p>
        </p:txBody>
      </p:sp>
      <p:sp>
        <p:nvSpPr>
          <p:cNvPr id="3" name="support">
            <a:extLst xmlns:a="http://schemas.openxmlformats.org/drawingml/2006/main">
              <a:ext uri="{FF2B5EF4-FFF2-40B4-BE49-F238E27FC236}">
                <a16:creationId xmlns:a16="http://schemas.microsoft.com/office/drawing/2014/main" id="{70538436-65A6-401E-84CC-533141B9FE57}"/>
              </a:ext>
            </a:extLst>
          </p:cNvPr>
          <p:cNvSpPr>
            <a:spLocks xmlns:a="http://schemas.openxmlformats.org/drawingml/2006/main" noGrp="1"/>
          </p:cNvSpPr>
          <p:nvPr/>
        </p:nvSpPr>
        <p:spPr>
          <a:xfrm xmlns:a="http://schemas.openxmlformats.org/drawingml/2006/main">
            <a:off x="800100" y="4438650"/>
            <a:ext cx="10572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000" b="0">
                <a:solidFill>
                  <a:srgbClr val="FFFFFF"/>
                </a:solidFill>
                <a:latin typeface="Inter"/>
                <a:ea typeface="Inter"/>
                <a:cs typeface="Inter"/>
              </a:defRPr>
            </a:defPPr>
            <a:lvl1pPr>
              <a:defRPr sz="3000" b="0">
                <a:solidFill>
                  <a:srgbClr val="FFFFFF"/>
                </a:solidFill>
                <a:latin typeface="Inter"/>
                <a:ea typeface="Inter"/>
                <a:cs typeface="Inter"/>
              </a:defRPr>
            </a:lvl1pPr>
            <a:lvl2pPr>
              <a:defRPr sz="3000" b="0">
                <a:solidFill>
                  <a:srgbClr val="FFFFFF"/>
                </a:solidFill>
                <a:latin typeface="Inter"/>
                <a:ea typeface="Inter"/>
                <a:cs typeface="Inter"/>
              </a:defRPr>
            </a:lvl2pPr>
            <a:lvl3pPr>
              <a:defRPr sz="3000" b="0">
                <a:solidFill>
                  <a:srgbClr val="FFFFFF"/>
                </a:solidFill>
                <a:latin typeface="Inter"/>
                <a:ea typeface="Inter"/>
                <a:cs typeface="Inter"/>
              </a:defRPr>
            </a:lvl3pPr>
            <a:lvl4pPr>
              <a:defRPr sz="3000" b="0">
                <a:solidFill>
                  <a:srgbClr val="FFFFFF"/>
                </a:solidFill>
                <a:latin typeface="Inter"/>
                <a:ea typeface="Inter"/>
                <a:cs typeface="Inter"/>
              </a:defRPr>
            </a:lvl4pPr>
            <a:lvl5pPr>
              <a:defRPr sz="3000" b="0">
                <a:solidFill>
                  <a:srgbClr val="FFFFFF"/>
                </a:solidFill>
                <a:latin typeface="Inter"/>
                <a:ea typeface="Inter"/>
                <a:cs typeface="Inter"/>
              </a:defRPr>
            </a:lvl5pPr>
            <a:lvl6pPr>
              <a:defRPr sz="3000" b="0">
                <a:solidFill>
                  <a:srgbClr val="FFFFFF"/>
                </a:solidFill>
                <a:latin typeface="Inter"/>
                <a:ea typeface="Inter"/>
                <a:cs typeface="Inter"/>
              </a:defRPr>
            </a:lvl6pPr>
            <a:lvl7pPr>
              <a:defRPr sz="3000" b="0">
                <a:solidFill>
                  <a:srgbClr val="FFFFFF"/>
                </a:solidFill>
                <a:latin typeface="Inter"/>
                <a:ea typeface="Inter"/>
                <a:cs typeface="Inter"/>
              </a:defRPr>
            </a:lvl7pPr>
            <a:lvl8pPr>
              <a:defRPr sz="3000" b="0">
                <a:solidFill>
                  <a:srgbClr val="FFFFFF"/>
                </a:solidFill>
                <a:latin typeface="Inter"/>
                <a:ea typeface="Inter"/>
                <a:cs typeface="Inter"/>
              </a:defRPr>
            </a:lvl8pPr>
            <a:lvl9pPr>
              <a:defRPr sz="3000" b="0">
                <a:solidFill>
                  <a:srgbClr val="FFFFFF"/>
                </a:solidFill>
                <a:latin typeface="Inter"/>
                <a:ea typeface="Inter"/>
                <a:cs typeface="Inter"/>
              </a:defRPr>
            </a:lvl9pPr>
          </a:lstStyle>
          <a:p xmlns:a="http://schemas.openxmlformats.org/drawingml/2006/main">
            <a:pPr>
              <a:defRPr sz="3000" b="0">
                <a:solidFill>
                  <a:srgbClr val="FFFFFF"/>
                </a:solidFill>
                <a:latin typeface="Inter"/>
                <a:ea typeface="Inter"/>
                <a:cs typeface="Inter"/>
              </a:defRPr>
            </a:pPr>
            <a:r>
              <a:rPr sz="3000" b="0">
                <a:solidFill>
                  <a:srgbClr val="FFFFFF"/>
                </a:solidFill>
                <a:latin typeface="Inter"/>
                <a:ea typeface="Inter"/>
                <a:cs typeface="Inter"/>
              </a:rPr>
              <a:t>Hồ sơ rõ ràng. Lịch sử đặt giá có thể kiểm tra.</a:t>
            </a:r>
          </a:p>
        </p:txBody>
      </p:sp>
      <p:sp>
        <p:nvSpPr>
          <p:cNvPr id="4" name="assumption">
            <a:extLst xmlns:a="http://schemas.openxmlformats.org/drawingml/2006/main">
              <a:ext uri="{FF2B5EF4-FFF2-40B4-BE49-F238E27FC236}">
                <a16:creationId xmlns:a16="http://schemas.microsoft.com/office/drawing/2014/main" id="{6BFD129D-02BD-451E-96E9-69E609046D53}"/>
              </a:ext>
            </a:extLst>
          </p:cNvPr>
          <p:cNvSpPr>
            <a:spLocks xmlns:a="http://schemas.openxmlformats.org/drawingml/2006/main" noGrp="1"/>
          </p:cNvSpPr>
          <p:nvPr/>
        </p:nvSpPr>
        <p:spPr>
          <a:xfrm xmlns:a="http://schemas.openxmlformats.org/drawingml/2006/main">
            <a:off x="800100" y="5905500"/>
            <a:ext cx="1000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000" b="0">
                <a:solidFill>
                  <a:srgbClr val="6FE0BB"/>
                </a:solidFill>
                <a:latin typeface="Inter"/>
                <a:ea typeface="Inter"/>
                <a:cs typeface="Inter"/>
              </a:defRPr>
            </a:defPPr>
            <a:lvl1pPr>
              <a:defRPr sz="3000" b="0">
                <a:solidFill>
                  <a:srgbClr val="6FE0BB"/>
                </a:solidFill>
                <a:latin typeface="Inter"/>
                <a:ea typeface="Inter"/>
                <a:cs typeface="Inter"/>
              </a:defRPr>
            </a:lvl1pPr>
            <a:lvl2pPr>
              <a:defRPr sz="3000" b="0">
                <a:solidFill>
                  <a:srgbClr val="6FE0BB"/>
                </a:solidFill>
                <a:latin typeface="Inter"/>
                <a:ea typeface="Inter"/>
                <a:cs typeface="Inter"/>
              </a:defRPr>
            </a:lvl2pPr>
            <a:lvl3pPr>
              <a:defRPr sz="3000" b="0">
                <a:solidFill>
                  <a:srgbClr val="6FE0BB"/>
                </a:solidFill>
                <a:latin typeface="Inter"/>
                <a:ea typeface="Inter"/>
                <a:cs typeface="Inter"/>
              </a:defRPr>
            </a:lvl3pPr>
            <a:lvl4pPr>
              <a:defRPr sz="3000" b="0">
                <a:solidFill>
                  <a:srgbClr val="6FE0BB"/>
                </a:solidFill>
                <a:latin typeface="Inter"/>
                <a:ea typeface="Inter"/>
                <a:cs typeface="Inter"/>
              </a:defRPr>
            </a:lvl4pPr>
            <a:lvl5pPr>
              <a:defRPr sz="3000" b="0">
                <a:solidFill>
                  <a:srgbClr val="6FE0BB"/>
                </a:solidFill>
                <a:latin typeface="Inter"/>
                <a:ea typeface="Inter"/>
                <a:cs typeface="Inter"/>
              </a:defRPr>
            </a:lvl5pPr>
            <a:lvl6pPr>
              <a:defRPr sz="3000" b="0">
                <a:solidFill>
                  <a:srgbClr val="6FE0BB"/>
                </a:solidFill>
                <a:latin typeface="Inter"/>
                <a:ea typeface="Inter"/>
                <a:cs typeface="Inter"/>
              </a:defRPr>
            </a:lvl6pPr>
            <a:lvl7pPr>
              <a:defRPr sz="3000" b="0">
                <a:solidFill>
                  <a:srgbClr val="6FE0BB"/>
                </a:solidFill>
                <a:latin typeface="Inter"/>
                <a:ea typeface="Inter"/>
                <a:cs typeface="Inter"/>
              </a:defRPr>
            </a:lvl7pPr>
            <a:lvl8pPr>
              <a:defRPr sz="3000" b="0">
                <a:solidFill>
                  <a:srgbClr val="6FE0BB"/>
                </a:solidFill>
                <a:latin typeface="Inter"/>
                <a:ea typeface="Inter"/>
                <a:cs typeface="Inter"/>
              </a:defRPr>
            </a:lvl8pPr>
            <a:lvl9pPr>
              <a:defRPr sz="3000" b="0">
                <a:solidFill>
                  <a:srgbClr val="6FE0BB"/>
                </a:solidFill>
                <a:latin typeface="Inter"/>
                <a:ea typeface="Inter"/>
                <a:cs typeface="Inter"/>
              </a:defRPr>
            </a:lvl9pPr>
          </a:lstStyle>
          <a:p xmlns:a="http://schemas.openxmlformats.org/drawingml/2006/main">
            <a:pPr>
              <a:defRPr sz="3000" b="0">
                <a:solidFill>
                  <a:srgbClr val="6FE0BB"/>
                </a:solidFill>
                <a:latin typeface="Inter"/>
                <a:ea typeface="Inter"/>
                <a:cs typeface="Inter"/>
              </a:defRPr>
            </a:pPr>
            <a:r>
              <a:rPr sz="3000" b="0">
                <a:solidFill>
                  <a:srgbClr val="6FE0BB"/>
                </a:solidFill>
                <a:latin typeface="Inter"/>
                <a:ea typeface="Inter"/>
                <a:cs typeface="Inter"/>
              </a:rPr>
              <a:t>Đề án khởi nghiệp sinh viên</a:t>
            </a:r>
          </a:p>
        </p:txBody>
      </p:sp>
    </p:spTree>
    <p:extLst>
      <p:ext uri="{BB962C8B-B14F-4D97-AF65-F5344CB8AC3E}">
        <p14:creationId xmlns:p14="http://schemas.microsoft.com/office/powerpoint/2010/main" val="1132056408"/>
      </p:ext>
    </p:extLst>
  </p:cSld>
</p:sld>
</file>

<file path=ppt/slides/slide2.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E52BD81-84FB-4370-B026-2D6A444CB6D8}"/>
              </a:ext>
            </a:extLst>
          </p:cNvPr>
          <p:cNvSpPr>
            <a:spLocks xmlns:a="http://schemas.openxmlformats.org/drawingml/2006/main" noGrp="1"/>
          </p:cNvSpPr>
          <p:nvPr/>
        </p:nvSpPr>
        <p:spPr>
          <a:xfrm xmlns:a="http://schemas.openxmlformats.org/drawingml/2006/main">
            <a:off x="762000" y="55245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300" b="1">
                <a:solidFill>
                  <a:srgbClr val="16324F"/>
                </a:solidFill>
                <a:latin typeface="Inter"/>
                <a:ea typeface="Inter"/>
                <a:cs typeface="Inter"/>
              </a:defRPr>
            </a:defPPr>
            <a:lvl1pPr>
              <a:defRPr sz="3300" b="1">
                <a:solidFill>
                  <a:srgbClr val="16324F"/>
                </a:solidFill>
                <a:latin typeface="Inter"/>
                <a:ea typeface="Inter"/>
                <a:cs typeface="Inter"/>
              </a:defRPr>
            </a:lvl1pPr>
            <a:lvl2pPr>
              <a:defRPr sz="3300" b="1">
                <a:solidFill>
                  <a:srgbClr val="16324F"/>
                </a:solidFill>
                <a:latin typeface="Inter"/>
                <a:ea typeface="Inter"/>
                <a:cs typeface="Inter"/>
              </a:defRPr>
            </a:lvl2pPr>
            <a:lvl3pPr>
              <a:defRPr sz="3300" b="1">
                <a:solidFill>
                  <a:srgbClr val="16324F"/>
                </a:solidFill>
                <a:latin typeface="Inter"/>
                <a:ea typeface="Inter"/>
                <a:cs typeface="Inter"/>
              </a:defRPr>
            </a:lvl3pPr>
            <a:lvl4pPr>
              <a:defRPr sz="3300" b="1">
                <a:solidFill>
                  <a:srgbClr val="16324F"/>
                </a:solidFill>
                <a:latin typeface="Inter"/>
                <a:ea typeface="Inter"/>
                <a:cs typeface="Inter"/>
              </a:defRPr>
            </a:lvl4pPr>
            <a:lvl5pPr>
              <a:defRPr sz="3300" b="1">
                <a:solidFill>
                  <a:srgbClr val="16324F"/>
                </a:solidFill>
                <a:latin typeface="Inter"/>
                <a:ea typeface="Inter"/>
                <a:cs typeface="Inter"/>
              </a:defRPr>
            </a:lvl5pPr>
            <a:lvl6pPr>
              <a:defRPr sz="3300" b="1">
                <a:solidFill>
                  <a:srgbClr val="16324F"/>
                </a:solidFill>
                <a:latin typeface="Inter"/>
                <a:ea typeface="Inter"/>
                <a:cs typeface="Inter"/>
              </a:defRPr>
            </a:lvl6pPr>
            <a:lvl7pPr>
              <a:defRPr sz="3300" b="1">
                <a:solidFill>
                  <a:srgbClr val="16324F"/>
                </a:solidFill>
                <a:latin typeface="Inter"/>
                <a:ea typeface="Inter"/>
                <a:cs typeface="Inter"/>
              </a:defRPr>
            </a:lvl7pPr>
            <a:lvl8pPr>
              <a:defRPr sz="3300" b="1">
                <a:solidFill>
                  <a:srgbClr val="16324F"/>
                </a:solidFill>
                <a:latin typeface="Inter"/>
                <a:ea typeface="Inter"/>
                <a:cs typeface="Inter"/>
              </a:defRPr>
            </a:lvl8pPr>
            <a:lvl9pPr>
              <a:defRPr sz="3300" b="1">
                <a:solidFill>
                  <a:srgbClr val="16324F"/>
                </a:solidFill>
                <a:latin typeface="Inter"/>
                <a:ea typeface="Inter"/>
                <a:cs typeface="Inter"/>
              </a:defRPr>
            </a:lvl9pPr>
          </a:lstStyle>
          <a:p xmlns:a="http://schemas.openxmlformats.org/drawingml/2006/main">
            <a:pPr>
              <a:defRPr sz="3300" b="1">
                <a:solidFill>
                  <a:srgbClr val="16324F"/>
                </a:solidFill>
                <a:latin typeface="Inter"/>
                <a:ea typeface="Inter"/>
                <a:cs typeface="Inter"/>
              </a:defRPr>
            </a:pPr>
            <a:r>
              <a:rPr sz="3300" b="1">
                <a:solidFill>
                  <a:srgbClr val="16324F"/>
                </a:solidFill>
                <a:latin typeface="Inter"/>
                <a:ea typeface="Inter"/>
                <a:cs typeface="Inter"/>
              </a:rPr>
              <a:t>Vấn đề cần kiểm chứng</a:t>
            </a:r>
          </a:p>
        </p:txBody>
      </p:sp>
      <p:sp>
        <p:nvSpPr>
          <p:cNvPr id="2" name="main-message">
            <a:extLst xmlns:a="http://schemas.openxmlformats.org/drawingml/2006/main">
              <a:ext uri="{FF2B5EF4-FFF2-40B4-BE49-F238E27FC236}">
                <a16:creationId xmlns:a16="http://schemas.microsoft.com/office/drawing/2014/main" id="{CE25F9EC-30CA-4ACC-9FFA-1D824E778C88}"/>
              </a:ext>
            </a:extLst>
          </p:cNvPr>
          <p:cNvSpPr>
            <a:spLocks xmlns:a="http://schemas.openxmlformats.org/drawingml/2006/main" noGrp="1"/>
          </p:cNvSpPr>
          <p:nvPr/>
        </p:nvSpPr>
        <p:spPr>
          <a:xfrm xmlns:a="http://schemas.openxmlformats.org/drawingml/2006/main">
            <a:off x="762000" y="1762125"/>
            <a:ext cx="106680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4950" b="1">
                <a:solidFill>
                  <a:srgbClr val="16324F"/>
                </a:solidFill>
                <a:latin typeface="Inter"/>
                <a:ea typeface="Inter"/>
                <a:cs typeface="Inter"/>
              </a:defRPr>
            </a:defPPr>
            <a:lvl1pPr>
              <a:defRPr sz="4950" b="1">
                <a:solidFill>
                  <a:srgbClr val="16324F"/>
                </a:solidFill>
                <a:latin typeface="Inter"/>
                <a:ea typeface="Inter"/>
                <a:cs typeface="Inter"/>
              </a:defRPr>
            </a:lvl1pPr>
            <a:lvl2pPr>
              <a:defRPr sz="4950" b="1">
                <a:solidFill>
                  <a:srgbClr val="16324F"/>
                </a:solidFill>
                <a:latin typeface="Inter"/>
                <a:ea typeface="Inter"/>
                <a:cs typeface="Inter"/>
              </a:defRPr>
            </a:lvl2pPr>
            <a:lvl3pPr>
              <a:defRPr sz="4950" b="1">
                <a:solidFill>
                  <a:srgbClr val="16324F"/>
                </a:solidFill>
                <a:latin typeface="Inter"/>
                <a:ea typeface="Inter"/>
                <a:cs typeface="Inter"/>
              </a:defRPr>
            </a:lvl3pPr>
            <a:lvl4pPr>
              <a:defRPr sz="4950" b="1">
                <a:solidFill>
                  <a:srgbClr val="16324F"/>
                </a:solidFill>
                <a:latin typeface="Inter"/>
                <a:ea typeface="Inter"/>
                <a:cs typeface="Inter"/>
              </a:defRPr>
            </a:lvl4pPr>
            <a:lvl5pPr>
              <a:defRPr sz="4950" b="1">
                <a:solidFill>
                  <a:srgbClr val="16324F"/>
                </a:solidFill>
                <a:latin typeface="Inter"/>
                <a:ea typeface="Inter"/>
                <a:cs typeface="Inter"/>
              </a:defRPr>
            </a:lvl5pPr>
            <a:lvl6pPr>
              <a:defRPr sz="4950" b="1">
                <a:solidFill>
                  <a:srgbClr val="16324F"/>
                </a:solidFill>
                <a:latin typeface="Inter"/>
                <a:ea typeface="Inter"/>
                <a:cs typeface="Inter"/>
              </a:defRPr>
            </a:lvl6pPr>
            <a:lvl7pPr>
              <a:defRPr sz="4950" b="1">
                <a:solidFill>
                  <a:srgbClr val="16324F"/>
                </a:solidFill>
                <a:latin typeface="Inter"/>
                <a:ea typeface="Inter"/>
                <a:cs typeface="Inter"/>
              </a:defRPr>
            </a:lvl7pPr>
            <a:lvl8pPr>
              <a:defRPr sz="4950" b="1">
                <a:solidFill>
                  <a:srgbClr val="16324F"/>
                </a:solidFill>
                <a:latin typeface="Inter"/>
                <a:ea typeface="Inter"/>
                <a:cs typeface="Inter"/>
              </a:defRPr>
            </a:lvl8pPr>
            <a:lvl9pPr>
              <a:defRPr sz="4950" b="1">
                <a:solidFill>
                  <a:srgbClr val="16324F"/>
                </a:solidFill>
                <a:latin typeface="Inter"/>
                <a:ea typeface="Inter"/>
                <a:cs typeface="Inter"/>
              </a:defRPr>
            </a:lvl9pPr>
          </a:lstStyle>
          <a:p xmlns:a="http://schemas.openxmlformats.org/drawingml/2006/main">
            <a:pPr>
              <a:defRPr sz="4950" b="1">
                <a:solidFill>
                  <a:srgbClr val="16324F"/>
                </a:solidFill>
                <a:latin typeface="Inter"/>
                <a:ea typeface="Inter"/>
                <a:cs typeface="Inter"/>
              </a:defRPr>
            </a:pPr>
            <a:r>
              <a:rPr sz="4950" b="1">
                <a:solidFill>
                  <a:srgbClr val="16324F"/>
                </a:solidFill>
                <a:latin typeface="Inter"/>
                <a:ea typeface="Inter"/>
                <a:cs typeface="Inter"/>
              </a:rPr>
              <a:t>Người mua cần tin</a:t>
            </a:r>
          </a:p>
          <a:p xmlns:a="http://schemas.openxmlformats.org/drawingml/2006/main">
            <a:pPr>
              <a:defRPr sz="4950" b="1">
                <a:solidFill>
                  <a:srgbClr val="16324F"/>
                </a:solidFill>
                <a:latin typeface="Inter"/>
                <a:ea typeface="Inter"/>
                <a:cs typeface="Inter"/>
              </a:defRPr>
            </a:pPr>
            <a:r>
              <a:rPr sz="4950" b="1">
                <a:solidFill>
                  <a:srgbClr val="16324F"/>
                </a:solidFill>
                <a:latin typeface="Inter"/>
                <a:ea typeface="Inter"/>
                <a:cs typeface="Inter"/>
              </a:rPr>
              <a:t>vào hồ sơ và mức giá</a:t>
            </a:r>
          </a:p>
        </p:txBody>
      </p:sp>
      <p:sp>
        <p:nvSpPr>
          <p:cNvPr id="3" name="support">
            <a:extLst xmlns:a="http://schemas.openxmlformats.org/drawingml/2006/main">
              <a:ext uri="{FF2B5EF4-FFF2-40B4-BE49-F238E27FC236}">
                <a16:creationId xmlns:a16="http://schemas.microsoft.com/office/drawing/2014/main" id="{38878033-1066-49ED-8877-13801E80C5B5}"/>
              </a:ext>
            </a:extLst>
          </p:cNvPr>
          <p:cNvSpPr>
            <a:spLocks xmlns:a="http://schemas.openxmlformats.org/drawingml/2006/main" noGrp="1"/>
          </p:cNvSpPr>
          <p:nvPr/>
        </p:nvSpPr>
        <p:spPr>
          <a:xfrm xmlns:a="http://schemas.openxmlformats.org/drawingml/2006/main">
            <a:off x="800100" y="4438650"/>
            <a:ext cx="10572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000" b="0">
                <a:solidFill>
                  <a:srgbClr val="16324F"/>
                </a:solidFill>
                <a:latin typeface="Inter"/>
                <a:ea typeface="Inter"/>
                <a:cs typeface="Inter"/>
              </a:defRPr>
            </a:defPPr>
            <a:lvl1pPr>
              <a:defRPr sz="3000" b="0">
                <a:solidFill>
                  <a:srgbClr val="16324F"/>
                </a:solidFill>
                <a:latin typeface="Inter"/>
                <a:ea typeface="Inter"/>
                <a:cs typeface="Inter"/>
              </a:defRPr>
            </a:lvl1pPr>
            <a:lvl2pPr>
              <a:defRPr sz="3000" b="0">
                <a:solidFill>
                  <a:srgbClr val="16324F"/>
                </a:solidFill>
                <a:latin typeface="Inter"/>
                <a:ea typeface="Inter"/>
                <a:cs typeface="Inter"/>
              </a:defRPr>
            </a:lvl2pPr>
            <a:lvl3pPr>
              <a:defRPr sz="3000" b="0">
                <a:solidFill>
                  <a:srgbClr val="16324F"/>
                </a:solidFill>
                <a:latin typeface="Inter"/>
                <a:ea typeface="Inter"/>
                <a:cs typeface="Inter"/>
              </a:defRPr>
            </a:lvl3pPr>
            <a:lvl4pPr>
              <a:defRPr sz="3000" b="0">
                <a:solidFill>
                  <a:srgbClr val="16324F"/>
                </a:solidFill>
                <a:latin typeface="Inter"/>
                <a:ea typeface="Inter"/>
                <a:cs typeface="Inter"/>
              </a:defRPr>
            </a:lvl4pPr>
            <a:lvl5pPr>
              <a:defRPr sz="3000" b="0">
                <a:solidFill>
                  <a:srgbClr val="16324F"/>
                </a:solidFill>
                <a:latin typeface="Inter"/>
                <a:ea typeface="Inter"/>
                <a:cs typeface="Inter"/>
              </a:defRPr>
            </a:lvl5pPr>
            <a:lvl6pPr>
              <a:defRPr sz="3000" b="0">
                <a:solidFill>
                  <a:srgbClr val="16324F"/>
                </a:solidFill>
                <a:latin typeface="Inter"/>
                <a:ea typeface="Inter"/>
                <a:cs typeface="Inter"/>
              </a:defRPr>
            </a:lvl6pPr>
            <a:lvl7pPr>
              <a:defRPr sz="3000" b="0">
                <a:solidFill>
                  <a:srgbClr val="16324F"/>
                </a:solidFill>
                <a:latin typeface="Inter"/>
                <a:ea typeface="Inter"/>
                <a:cs typeface="Inter"/>
              </a:defRPr>
            </a:lvl7pPr>
            <a:lvl8pPr>
              <a:defRPr sz="3000" b="0">
                <a:solidFill>
                  <a:srgbClr val="16324F"/>
                </a:solidFill>
                <a:latin typeface="Inter"/>
                <a:ea typeface="Inter"/>
                <a:cs typeface="Inter"/>
              </a:defRPr>
            </a:lvl8pPr>
            <a:lvl9pPr>
              <a:defRPr sz="3000" b="0">
                <a:solidFill>
                  <a:srgbClr val="16324F"/>
                </a:solidFill>
                <a:latin typeface="Inter"/>
                <a:ea typeface="Inter"/>
                <a:cs typeface="Inter"/>
              </a:defRPr>
            </a:lvl9pPr>
          </a:lstStyle>
          <a:p xmlns:a="http://schemas.openxmlformats.org/drawingml/2006/main">
            <a:pPr>
              <a:defRPr sz="3000" b="0">
                <a:solidFill>
                  <a:srgbClr val="16324F"/>
                </a:solidFill>
                <a:latin typeface="Inter"/>
                <a:ea typeface="Inter"/>
                <a:cs typeface="Inter"/>
              </a:defRPr>
            </a:pPr>
            <a:r>
              <a:rPr sz="3000" b="0">
                <a:solidFill>
                  <a:srgbClr val="16324F"/>
                </a:solidFill>
                <a:latin typeface="Inter"/>
                <a:ea typeface="Inter"/>
                <a:cs typeface="Inter"/>
              </a:rPr>
              <a:t>Phỏng vấn 20 người mua để xác nhận mức độ ưu tiên.</a:t>
            </a:r>
          </a:p>
        </p:txBody>
      </p:sp>
      <p:sp>
        <p:nvSpPr>
          <p:cNvPr id="4" name="assumption">
            <a:extLst xmlns:a="http://schemas.openxmlformats.org/drawingml/2006/main">
              <a:ext uri="{FF2B5EF4-FFF2-40B4-BE49-F238E27FC236}">
                <a16:creationId xmlns:a16="http://schemas.microsoft.com/office/drawing/2014/main" id="{3A1E9BB5-E60C-427C-BDF7-283C97F10DD4}"/>
              </a:ext>
            </a:extLst>
          </p:cNvPr>
          <p:cNvSpPr>
            <a:spLocks xmlns:a="http://schemas.openxmlformats.org/drawingml/2006/main" noGrp="1"/>
          </p:cNvSpPr>
          <p:nvPr/>
        </p:nvSpPr>
        <p:spPr>
          <a:xfrm xmlns:a="http://schemas.openxmlformats.org/drawingml/2006/main">
            <a:off x="800100" y="5905500"/>
            <a:ext cx="1000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000" b="0">
                <a:solidFill>
                  <a:srgbClr val="156F63"/>
                </a:solidFill>
                <a:latin typeface="Inter"/>
                <a:ea typeface="Inter"/>
                <a:cs typeface="Inter"/>
              </a:defRPr>
            </a:defPPr>
            <a:lvl1pPr>
              <a:defRPr sz="3000" b="0">
                <a:solidFill>
                  <a:srgbClr val="156F63"/>
                </a:solidFill>
                <a:latin typeface="Inter"/>
                <a:ea typeface="Inter"/>
                <a:cs typeface="Inter"/>
              </a:defRPr>
            </a:lvl1pPr>
            <a:lvl2pPr>
              <a:defRPr sz="3000" b="0">
                <a:solidFill>
                  <a:srgbClr val="156F63"/>
                </a:solidFill>
                <a:latin typeface="Inter"/>
                <a:ea typeface="Inter"/>
                <a:cs typeface="Inter"/>
              </a:defRPr>
            </a:lvl2pPr>
            <a:lvl3pPr>
              <a:defRPr sz="3000" b="0">
                <a:solidFill>
                  <a:srgbClr val="156F63"/>
                </a:solidFill>
                <a:latin typeface="Inter"/>
                <a:ea typeface="Inter"/>
                <a:cs typeface="Inter"/>
              </a:defRPr>
            </a:lvl3pPr>
            <a:lvl4pPr>
              <a:defRPr sz="3000" b="0">
                <a:solidFill>
                  <a:srgbClr val="156F63"/>
                </a:solidFill>
                <a:latin typeface="Inter"/>
                <a:ea typeface="Inter"/>
                <a:cs typeface="Inter"/>
              </a:defRPr>
            </a:lvl4pPr>
            <a:lvl5pPr>
              <a:defRPr sz="3000" b="0">
                <a:solidFill>
                  <a:srgbClr val="156F63"/>
                </a:solidFill>
                <a:latin typeface="Inter"/>
                <a:ea typeface="Inter"/>
                <a:cs typeface="Inter"/>
              </a:defRPr>
            </a:lvl5pPr>
            <a:lvl6pPr>
              <a:defRPr sz="3000" b="0">
                <a:solidFill>
                  <a:srgbClr val="156F63"/>
                </a:solidFill>
                <a:latin typeface="Inter"/>
                <a:ea typeface="Inter"/>
                <a:cs typeface="Inter"/>
              </a:defRPr>
            </a:lvl6pPr>
            <a:lvl7pPr>
              <a:defRPr sz="3000" b="0">
                <a:solidFill>
                  <a:srgbClr val="156F63"/>
                </a:solidFill>
                <a:latin typeface="Inter"/>
                <a:ea typeface="Inter"/>
                <a:cs typeface="Inter"/>
              </a:defRPr>
            </a:lvl7pPr>
            <a:lvl8pPr>
              <a:defRPr sz="3000" b="0">
                <a:solidFill>
                  <a:srgbClr val="156F63"/>
                </a:solidFill>
                <a:latin typeface="Inter"/>
                <a:ea typeface="Inter"/>
                <a:cs typeface="Inter"/>
              </a:defRPr>
            </a:lvl8pPr>
            <a:lvl9pPr>
              <a:defRPr sz="3000" b="0">
                <a:solidFill>
                  <a:srgbClr val="156F63"/>
                </a:solidFill>
                <a:latin typeface="Inter"/>
                <a:ea typeface="Inter"/>
                <a:cs typeface="Inter"/>
              </a:defRPr>
            </a:lvl9pPr>
          </a:lstStyle>
          <a:p xmlns:a="http://schemas.openxmlformats.org/drawingml/2006/main">
            <a:pPr>
              <a:defRPr sz="3000" b="0">
                <a:solidFill>
                  <a:srgbClr val="156F63"/>
                </a:solidFill>
                <a:latin typeface="Inter"/>
                <a:ea typeface="Inter"/>
                <a:cs typeface="Inter"/>
              </a:defRPr>
            </a:pPr>
            <a:r>
              <a:rPr sz="3000" b="0">
                <a:solidFill>
                  <a:srgbClr val="156F63"/>
                </a:solidFill>
                <a:latin typeface="Inter"/>
                <a:ea typeface="Inter"/>
                <a:cs typeface="Inter"/>
              </a:rPr>
              <a:t>Giả thuyết khách hàng</a:t>
            </a:r>
          </a:p>
        </p:txBody>
      </p:sp>
    </p:spTree>
    <p:extLst>
      <p:ext uri="{BB962C8B-B14F-4D97-AF65-F5344CB8AC3E}">
        <p14:creationId xmlns:p14="http://schemas.microsoft.com/office/powerpoint/2010/main" val="858544160"/>
      </p:ext>
    </p:extLst>
  </p:cSld>
</p:sld>
</file>

<file path=ppt/slides/slide3.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0523BFB-0FAC-467B-8DE9-E7569AA29F03}"/>
              </a:ext>
            </a:extLst>
          </p:cNvPr>
          <p:cNvSpPr>
            <a:spLocks xmlns:a="http://schemas.openxmlformats.org/drawingml/2006/main" noGrp="1"/>
          </p:cNvSpPr>
          <p:nvPr/>
        </p:nvSpPr>
        <p:spPr>
          <a:xfrm xmlns:a="http://schemas.openxmlformats.org/drawingml/2006/main">
            <a:off x="762000" y="55245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300" b="1">
                <a:solidFill>
                  <a:srgbClr val="16324F"/>
                </a:solidFill>
                <a:latin typeface="Inter"/>
                <a:ea typeface="Inter"/>
                <a:cs typeface="Inter"/>
              </a:defRPr>
            </a:defPPr>
            <a:lvl1pPr>
              <a:defRPr sz="3300" b="1">
                <a:solidFill>
                  <a:srgbClr val="16324F"/>
                </a:solidFill>
                <a:latin typeface="Inter"/>
                <a:ea typeface="Inter"/>
                <a:cs typeface="Inter"/>
              </a:defRPr>
            </a:lvl1pPr>
            <a:lvl2pPr>
              <a:defRPr sz="3300" b="1">
                <a:solidFill>
                  <a:srgbClr val="16324F"/>
                </a:solidFill>
                <a:latin typeface="Inter"/>
                <a:ea typeface="Inter"/>
                <a:cs typeface="Inter"/>
              </a:defRPr>
            </a:lvl2pPr>
            <a:lvl3pPr>
              <a:defRPr sz="3300" b="1">
                <a:solidFill>
                  <a:srgbClr val="16324F"/>
                </a:solidFill>
                <a:latin typeface="Inter"/>
                <a:ea typeface="Inter"/>
                <a:cs typeface="Inter"/>
              </a:defRPr>
            </a:lvl3pPr>
            <a:lvl4pPr>
              <a:defRPr sz="3300" b="1">
                <a:solidFill>
                  <a:srgbClr val="16324F"/>
                </a:solidFill>
                <a:latin typeface="Inter"/>
                <a:ea typeface="Inter"/>
                <a:cs typeface="Inter"/>
              </a:defRPr>
            </a:lvl4pPr>
            <a:lvl5pPr>
              <a:defRPr sz="3300" b="1">
                <a:solidFill>
                  <a:srgbClr val="16324F"/>
                </a:solidFill>
                <a:latin typeface="Inter"/>
                <a:ea typeface="Inter"/>
                <a:cs typeface="Inter"/>
              </a:defRPr>
            </a:lvl5pPr>
            <a:lvl6pPr>
              <a:defRPr sz="3300" b="1">
                <a:solidFill>
                  <a:srgbClr val="16324F"/>
                </a:solidFill>
                <a:latin typeface="Inter"/>
                <a:ea typeface="Inter"/>
                <a:cs typeface="Inter"/>
              </a:defRPr>
            </a:lvl6pPr>
            <a:lvl7pPr>
              <a:defRPr sz="3300" b="1">
                <a:solidFill>
                  <a:srgbClr val="16324F"/>
                </a:solidFill>
                <a:latin typeface="Inter"/>
                <a:ea typeface="Inter"/>
                <a:cs typeface="Inter"/>
              </a:defRPr>
            </a:lvl7pPr>
            <a:lvl8pPr>
              <a:defRPr sz="3300" b="1">
                <a:solidFill>
                  <a:srgbClr val="16324F"/>
                </a:solidFill>
                <a:latin typeface="Inter"/>
                <a:ea typeface="Inter"/>
                <a:cs typeface="Inter"/>
              </a:defRPr>
            </a:lvl8pPr>
            <a:lvl9pPr>
              <a:defRPr sz="3300" b="1">
                <a:solidFill>
                  <a:srgbClr val="16324F"/>
                </a:solidFill>
                <a:latin typeface="Inter"/>
                <a:ea typeface="Inter"/>
                <a:cs typeface="Inter"/>
              </a:defRPr>
            </a:lvl9pPr>
          </a:lstStyle>
          <a:p xmlns:a="http://schemas.openxmlformats.org/drawingml/2006/main">
            <a:pPr>
              <a:defRPr sz="3300" b="1">
                <a:solidFill>
                  <a:srgbClr val="16324F"/>
                </a:solidFill>
                <a:latin typeface="Inter"/>
                <a:ea typeface="Inter"/>
                <a:cs typeface="Inter"/>
              </a:defRPr>
            </a:pPr>
            <a:r>
              <a:rPr sz="3300" b="1">
                <a:solidFill>
                  <a:srgbClr val="16324F"/>
                </a:solidFill>
                <a:latin typeface="Inter"/>
                <a:ea typeface="Inter"/>
                <a:cs typeface="Inter"/>
              </a:rPr>
              <a:t>Khách hàng thử nghiệm</a:t>
            </a:r>
          </a:p>
        </p:txBody>
      </p:sp>
      <p:sp>
        <p:nvSpPr>
          <p:cNvPr id="2" name="main-message">
            <a:extLst xmlns:a="http://schemas.openxmlformats.org/drawingml/2006/main">
              <a:ext uri="{FF2B5EF4-FFF2-40B4-BE49-F238E27FC236}">
                <a16:creationId xmlns:a16="http://schemas.microsoft.com/office/drawing/2014/main" id="{0B783453-42F9-4DDB-B188-943EC8F027B4}"/>
              </a:ext>
            </a:extLst>
          </p:cNvPr>
          <p:cNvSpPr>
            <a:spLocks xmlns:a="http://schemas.openxmlformats.org/drawingml/2006/main" noGrp="1"/>
          </p:cNvSpPr>
          <p:nvPr/>
        </p:nvSpPr>
        <p:spPr>
          <a:xfrm xmlns:a="http://schemas.openxmlformats.org/drawingml/2006/main">
            <a:off x="762000" y="1762125"/>
            <a:ext cx="106680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4950" b="1">
                <a:solidFill>
                  <a:srgbClr val="16324F"/>
                </a:solidFill>
                <a:latin typeface="Inter"/>
                <a:ea typeface="Inter"/>
                <a:cs typeface="Inter"/>
              </a:defRPr>
            </a:defPPr>
            <a:lvl1pPr>
              <a:defRPr sz="4950" b="1">
                <a:solidFill>
                  <a:srgbClr val="16324F"/>
                </a:solidFill>
                <a:latin typeface="Inter"/>
                <a:ea typeface="Inter"/>
                <a:cs typeface="Inter"/>
              </a:defRPr>
            </a:lvl1pPr>
            <a:lvl2pPr>
              <a:defRPr sz="4950" b="1">
                <a:solidFill>
                  <a:srgbClr val="16324F"/>
                </a:solidFill>
                <a:latin typeface="Inter"/>
                <a:ea typeface="Inter"/>
                <a:cs typeface="Inter"/>
              </a:defRPr>
            </a:lvl2pPr>
            <a:lvl3pPr>
              <a:defRPr sz="4950" b="1">
                <a:solidFill>
                  <a:srgbClr val="16324F"/>
                </a:solidFill>
                <a:latin typeface="Inter"/>
                <a:ea typeface="Inter"/>
                <a:cs typeface="Inter"/>
              </a:defRPr>
            </a:lvl3pPr>
            <a:lvl4pPr>
              <a:defRPr sz="4950" b="1">
                <a:solidFill>
                  <a:srgbClr val="16324F"/>
                </a:solidFill>
                <a:latin typeface="Inter"/>
                <a:ea typeface="Inter"/>
                <a:cs typeface="Inter"/>
              </a:defRPr>
            </a:lvl4pPr>
            <a:lvl5pPr>
              <a:defRPr sz="4950" b="1">
                <a:solidFill>
                  <a:srgbClr val="16324F"/>
                </a:solidFill>
                <a:latin typeface="Inter"/>
                <a:ea typeface="Inter"/>
                <a:cs typeface="Inter"/>
              </a:defRPr>
            </a:lvl5pPr>
            <a:lvl6pPr>
              <a:defRPr sz="4950" b="1">
                <a:solidFill>
                  <a:srgbClr val="16324F"/>
                </a:solidFill>
                <a:latin typeface="Inter"/>
                <a:ea typeface="Inter"/>
                <a:cs typeface="Inter"/>
              </a:defRPr>
            </a:lvl6pPr>
            <a:lvl7pPr>
              <a:defRPr sz="4950" b="1">
                <a:solidFill>
                  <a:srgbClr val="16324F"/>
                </a:solidFill>
                <a:latin typeface="Inter"/>
                <a:ea typeface="Inter"/>
                <a:cs typeface="Inter"/>
              </a:defRPr>
            </a:lvl7pPr>
            <a:lvl8pPr>
              <a:defRPr sz="4950" b="1">
                <a:solidFill>
                  <a:srgbClr val="16324F"/>
                </a:solidFill>
                <a:latin typeface="Inter"/>
                <a:ea typeface="Inter"/>
                <a:cs typeface="Inter"/>
              </a:defRPr>
            </a:lvl8pPr>
            <a:lvl9pPr>
              <a:defRPr sz="4950" b="1">
                <a:solidFill>
                  <a:srgbClr val="16324F"/>
                </a:solidFill>
                <a:latin typeface="Inter"/>
                <a:ea typeface="Inter"/>
                <a:cs typeface="Inter"/>
              </a:defRPr>
            </a:lvl9pPr>
          </a:lstStyle>
          <a:p xmlns:a="http://schemas.openxmlformats.org/drawingml/2006/main">
            <a:pPr>
              <a:defRPr sz="4950" b="1">
                <a:solidFill>
                  <a:srgbClr val="16324F"/>
                </a:solidFill>
                <a:latin typeface="Inter"/>
                <a:ea typeface="Inter"/>
                <a:cs typeface="Inter"/>
              </a:defRPr>
            </a:pPr>
            <a:r>
              <a:rPr sz="4950" b="1">
                <a:solidFill>
                  <a:srgbClr val="16324F"/>
                </a:solidFill>
                <a:latin typeface="Inter"/>
                <a:ea typeface="Inter"/>
                <a:cs typeface="Inter"/>
              </a:rPr>
              <a:t>Một khu vực</a:t>
            </a:r>
          </a:p>
          <a:p xmlns:a="http://schemas.openxmlformats.org/drawingml/2006/main">
            <a:pPr>
              <a:defRPr sz="4950" b="1">
                <a:solidFill>
                  <a:srgbClr val="16324F"/>
                </a:solidFill>
                <a:latin typeface="Inter"/>
                <a:ea typeface="Inter"/>
                <a:cs typeface="Inter"/>
              </a:defRPr>
            </a:pPr>
            <a:r>
              <a:rPr sz="4950" b="1">
                <a:solidFill>
                  <a:srgbClr val="16324F"/>
                </a:solidFill>
                <a:latin typeface="Inter"/>
                <a:ea typeface="Inter"/>
                <a:cs typeface="Inter"/>
              </a:rPr>
              <a:t>một nhóm tài sản</a:t>
            </a:r>
          </a:p>
        </p:txBody>
      </p:sp>
      <p:sp>
        <p:nvSpPr>
          <p:cNvPr id="3" name="support">
            <a:extLst xmlns:a="http://schemas.openxmlformats.org/drawingml/2006/main">
              <a:ext uri="{FF2B5EF4-FFF2-40B4-BE49-F238E27FC236}">
                <a16:creationId xmlns:a16="http://schemas.microsoft.com/office/drawing/2014/main" id="{674422C8-0474-4D33-B359-185607DB5E13}"/>
              </a:ext>
            </a:extLst>
          </p:cNvPr>
          <p:cNvSpPr>
            <a:spLocks xmlns:a="http://schemas.openxmlformats.org/drawingml/2006/main" noGrp="1"/>
          </p:cNvSpPr>
          <p:nvPr/>
        </p:nvSpPr>
        <p:spPr>
          <a:xfrm xmlns:a="http://schemas.openxmlformats.org/drawingml/2006/main">
            <a:off x="800100" y="4438650"/>
            <a:ext cx="10572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000" b="0">
                <a:solidFill>
                  <a:srgbClr val="16324F"/>
                </a:solidFill>
                <a:latin typeface="Inter"/>
                <a:ea typeface="Inter"/>
                <a:cs typeface="Inter"/>
              </a:defRPr>
            </a:defPPr>
            <a:lvl1pPr>
              <a:defRPr sz="3000" b="0">
                <a:solidFill>
                  <a:srgbClr val="16324F"/>
                </a:solidFill>
                <a:latin typeface="Inter"/>
                <a:ea typeface="Inter"/>
                <a:cs typeface="Inter"/>
              </a:defRPr>
            </a:lvl1pPr>
            <a:lvl2pPr>
              <a:defRPr sz="3000" b="0">
                <a:solidFill>
                  <a:srgbClr val="16324F"/>
                </a:solidFill>
                <a:latin typeface="Inter"/>
                <a:ea typeface="Inter"/>
                <a:cs typeface="Inter"/>
              </a:defRPr>
            </a:lvl2pPr>
            <a:lvl3pPr>
              <a:defRPr sz="3000" b="0">
                <a:solidFill>
                  <a:srgbClr val="16324F"/>
                </a:solidFill>
                <a:latin typeface="Inter"/>
                <a:ea typeface="Inter"/>
                <a:cs typeface="Inter"/>
              </a:defRPr>
            </a:lvl3pPr>
            <a:lvl4pPr>
              <a:defRPr sz="3000" b="0">
                <a:solidFill>
                  <a:srgbClr val="16324F"/>
                </a:solidFill>
                <a:latin typeface="Inter"/>
                <a:ea typeface="Inter"/>
                <a:cs typeface="Inter"/>
              </a:defRPr>
            </a:lvl4pPr>
            <a:lvl5pPr>
              <a:defRPr sz="3000" b="0">
                <a:solidFill>
                  <a:srgbClr val="16324F"/>
                </a:solidFill>
                <a:latin typeface="Inter"/>
                <a:ea typeface="Inter"/>
                <a:cs typeface="Inter"/>
              </a:defRPr>
            </a:lvl5pPr>
            <a:lvl6pPr>
              <a:defRPr sz="3000" b="0">
                <a:solidFill>
                  <a:srgbClr val="16324F"/>
                </a:solidFill>
                <a:latin typeface="Inter"/>
                <a:ea typeface="Inter"/>
                <a:cs typeface="Inter"/>
              </a:defRPr>
            </a:lvl6pPr>
            <a:lvl7pPr>
              <a:defRPr sz="3000" b="0">
                <a:solidFill>
                  <a:srgbClr val="16324F"/>
                </a:solidFill>
                <a:latin typeface="Inter"/>
                <a:ea typeface="Inter"/>
                <a:cs typeface="Inter"/>
              </a:defRPr>
            </a:lvl7pPr>
            <a:lvl8pPr>
              <a:defRPr sz="3000" b="0">
                <a:solidFill>
                  <a:srgbClr val="16324F"/>
                </a:solidFill>
                <a:latin typeface="Inter"/>
                <a:ea typeface="Inter"/>
                <a:cs typeface="Inter"/>
              </a:defRPr>
            </a:lvl8pPr>
            <a:lvl9pPr>
              <a:defRPr sz="3000" b="0">
                <a:solidFill>
                  <a:srgbClr val="16324F"/>
                </a:solidFill>
                <a:latin typeface="Inter"/>
                <a:ea typeface="Inter"/>
                <a:cs typeface="Inter"/>
              </a:defRPr>
            </a:lvl9pPr>
          </a:lstStyle>
          <a:p xmlns:a="http://schemas.openxmlformats.org/drawingml/2006/main">
            <a:pPr>
              <a:defRPr sz="3000" b="0">
                <a:solidFill>
                  <a:srgbClr val="16324F"/>
                </a:solidFill>
                <a:latin typeface="Inter"/>
                <a:ea typeface="Inter"/>
                <a:cs typeface="Inter"/>
              </a:defRPr>
            </a:pPr>
            <a:r>
              <a:rPr sz="3000" b="0">
                <a:solidFill>
                  <a:srgbClr val="16324F"/>
                </a:solidFill>
                <a:latin typeface="Inter"/>
                <a:ea typeface="Inter"/>
                <a:cs typeface="Inter"/>
              </a:rPr>
              <a:t>Bắt đầu với căn hộ có hồ sơ đầy đủ tại TP.HCM.</a:t>
            </a:r>
          </a:p>
        </p:txBody>
      </p:sp>
      <p:sp>
        <p:nvSpPr>
          <p:cNvPr id="4" name="assumption">
            <a:extLst xmlns:a="http://schemas.openxmlformats.org/drawingml/2006/main">
              <a:ext uri="{FF2B5EF4-FFF2-40B4-BE49-F238E27FC236}">
                <a16:creationId xmlns:a16="http://schemas.microsoft.com/office/drawing/2014/main" id="{BDBEE650-C23B-4340-AAD2-D09773F735AF}"/>
              </a:ext>
            </a:extLst>
          </p:cNvPr>
          <p:cNvSpPr>
            <a:spLocks xmlns:a="http://schemas.openxmlformats.org/drawingml/2006/main" noGrp="1"/>
          </p:cNvSpPr>
          <p:nvPr/>
        </p:nvSpPr>
        <p:spPr>
          <a:xfrm xmlns:a="http://schemas.openxmlformats.org/drawingml/2006/main">
            <a:off x="800100" y="5905500"/>
            <a:ext cx="1000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000" b="0">
                <a:solidFill>
                  <a:srgbClr val="156F63"/>
                </a:solidFill>
                <a:latin typeface="Inter"/>
                <a:ea typeface="Inter"/>
                <a:cs typeface="Inter"/>
              </a:defRPr>
            </a:defPPr>
            <a:lvl1pPr>
              <a:defRPr sz="3000" b="0">
                <a:solidFill>
                  <a:srgbClr val="156F63"/>
                </a:solidFill>
                <a:latin typeface="Inter"/>
                <a:ea typeface="Inter"/>
                <a:cs typeface="Inter"/>
              </a:defRPr>
            </a:lvl1pPr>
            <a:lvl2pPr>
              <a:defRPr sz="3000" b="0">
                <a:solidFill>
                  <a:srgbClr val="156F63"/>
                </a:solidFill>
                <a:latin typeface="Inter"/>
                <a:ea typeface="Inter"/>
                <a:cs typeface="Inter"/>
              </a:defRPr>
            </a:lvl2pPr>
            <a:lvl3pPr>
              <a:defRPr sz="3000" b="0">
                <a:solidFill>
                  <a:srgbClr val="156F63"/>
                </a:solidFill>
                <a:latin typeface="Inter"/>
                <a:ea typeface="Inter"/>
                <a:cs typeface="Inter"/>
              </a:defRPr>
            </a:lvl3pPr>
            <a:lvl4pPr>
              <a:defRPr sz="3000" b="0">
                <a:solidFill>
                  <a:srgbClr val="156F63"/>
                </a:solidFill>
                <a:latin typeface="Inter"/>
                <a:ea typeface="Inter"/>
                <a:cs typeface="Inter"/>
              </a:defRPr>
            </a:lvl4pPr>
            <a:lvl5pPr>
              <a:defRPr sz="3000" b="0">
                <a:solidFill>
                  <a:srgbClr val="156F63"/>
                </a:solidFill>
                <a:latin typeface="Inter"/>
                <a:ea typeface="Inter"/>
                <a:cs typeface="Inter"/>
              </a:defRPr>
            </a:lvl5pPr>
            <a:lvl6pPr>
              <a:defRPr sz="3000" b="0">
                <a:solidFill>
                  <a:srgbClr val="156F63"/>
                </a:solidFill>
                <a:latin typeface="Inter"/>
                <a:ea typeface="Inter"/>
                <a:cs typeface="Inter"/>
              </a:defRPr>
            </a:lvl6pPr>
            <a:lvl7pPr>
              <a:defRPr sz="3000" b="0">
                <a:solidFill>
                  <a:srgbClr val="156F63"/>
                </a:solidFill>
                <a:latin typeface="Inter"/>
                <a:ea typeface="Inter"/>
                <a:cs typeface="Inter"/>
              </a:defRPr>
            </a:lvl7pPr>
            <a:lvl8pPr>
              <a:defRPr sz="3000" b="0">
                <a:solidFill>
                  <a:srgbClr val="156F63"/>
                </a:solidFill>
                <a:latin typeface="Inter"/>
                <a:ea typeface="Inter"/>
                <a:cs typeface="Inter"/>
              </a:defRPr>
            </a:lvl8pPr>
            <a:lvl9pPr>
              <a:defRPr sz="3000" b="0">
                <a:solidFill>
                  <a:srgbClr val="156F63"/>
                </a:solidFill>
                <a:latin typeface="Inter"/>
                <a:ea typeface="Inter"/>
                <a:cs typeface="Inter"/>
              </a:defRPr>
            </a:lvl9pPr>
          </a:lstStyle>
          <a:p xmlns:a="http://schemas.openxmlformats.org/drawingml/2006/main">
            <a:pPr>
              <a:defRPr sz="3000" b="0">
                <a:solidFill>
                  <a:srgbClr val="156F63"/>
                </a:solidFill>
                <a:latin typeface="Inter"/>
                <a:ea typeface="Inter"/>
                <a:cs typeface="Inter"/>
              </a:defRPr>
            </a:pPr>
            <a:r>
              <a:rPr sz="3000" b="0">
                <a:solidFill>
                  <a:srgbClr val="156F63"/>
                </a:solidFill>
                <a:latin typeface="Inter"/>
                <a:ea typeface="Inter"/>
                <a:cs typeface="Inter"/>
              </a:rPr>
              <a:t>Phạm vi pilot đề xuất</a:t>
            </a:r>
          </a:p>
        </p:txBody>
      </p:sp>
    </p:spTree>
    <p:extLst>
      <p:ext uri="{BB962C8B-B14F-4D97-AF65-F5344CB8AC3E}">
        <p14:creationId xmlns:p14="http://schemas.microsoft.com/office/powerpoint/2010/main" val="168644852"/>
      </p:ext>
    </p:extLst>
  </p:cSld>
</p:sld>
</file>

<file path=ppt/slides/slide4.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9DA0E9A-36D4-476F-8230-EE3B4948D34F}"/>
              </a:ext>
            </a:extLst>
          </p:cNvPr>
          <p:cNvSpPr>
            <a:spLocks xmlns:a="http://schemas.openxmlformats.org/drawingml/2006/main" noGrp="1"/>
          </p:cNvSpPr>
          <p:nvPr/>
        </p:nvSpPr>
        <p:spPr>
          <a:xfrm xmlns:a="http://schemas.openxmlformats.org/drawingml/2006/main">
            <a:off x="762000" y="55245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300" b="1">
                <a:solidFill>
                  <a:srgbClr val="16324F"/>
                </a:solidFill>
                <a:latin typeface="Inter"/>
                <a:ea typeface="Inter"/>
                <a:cs typeface="Inter"/>
              </a:defRPr>
            </a:defPPr>
            <a:lvl1pPr>
              <a:defRPr sz="3300" b="1">
                <a:solidFill>
                  <a:srgbClr val="16324F"/>
                </a:solidFill>
                <a:latin typeface="Inter"/>
                <a:ea typeface="Inter"/>
                <a:cs typeface="Inter"/>
              </a:defRPr>
            </a:lvl1pPr>
            <a:lvl2pPr>
              <a:defRPr sz="3300" b="1">
                <a:solidFill>
                  <a:srgbClr val="16324F"/>
                </a:solidFill>
                <a:latin typeface="Inter"/>
                <a:ea typeface="Inter"/>
                <a:cs typeface="Inter"/>
              </a:defRPr>
            </a:lvl2pPr>
            <a:lvl3pPr>
              <a:defRPr sz="3300" b="1">
                <a:solidFill>
                  <a:srgbClr val="16324F"/>
                </a:solidFill>
                <a:latin typeface="Inter"/>
                <a:ea typeface="Inter"/>
                <a:cs typeface="Inter"/>
              </a:defRPr>
            </a:lvl3pPr>
            <a:lvl4pPr>
              <a:defRPr sz="3300" b="1">
                <a:solidFill>
                  <a:srgbClr val="16324F"/>
                </a:solidFill>
                <a:latin typeface="Inter"/>
                <a:ea typeface="Inter"/>
                <a:cs typeface="Inter"/>
              </a:defRPr>
            </a:lvl4pPr>
            <a:lvl5pPr>
              <a:defRPr sz="3300" b="1">
                <a:solidFill>
                  <a:srgbClr val="16324F"/>
                </a:solidFill>
                <a:latin typeface="Inter"/>
                <a:ea typeface="Inter"/>
                <a:cs typeface="Inter"/>
              </a:defRPr>
            </a:lvl5pPr>
            <a:lvl6pPr>
              <a:defRPr sz="3300" b="1">
                <a:solidFill>
                  <a:srgbClr val="16324F"/>
                </a:solidFill>
                <a:latin typeface="Inter"/>
                <a:ea typeface="Inter"/>
                <a:cs typeface="Inter"/>
              </a:defRPr>
            </a:lvl6pPr>
            <a:lvl7pPr>
              <a:defRPr sz="3300" b="1">
                <a:solidFill>
                  <a:srgbClr val="16324F"/>
                </a:solidFill>
                <a:latin typeface="Inter"/>
                <a:ea typeface="Inter"/>
                <a:cs typeface="Inter"/>
              </a:defRPr>
            </a:lvl7pPr>
            <a:lvl8pPr>
              <a:defRPr sz="3300" b="1">
                <a:solidFill>
                  <a:srgbClr val="16324F"/>
                </a:solidFill>
                <a:latin typeface="Inter"/>
                <a:ea typeface="Inter"/>
                <a:cs typeface="Inter"/>
              </a:defRPr>
            </a:lvl8pPr>
            <a:lvl9pPr>
              <a:defRPr sz="3300" b="1">
                <a:solidFill>
                  <a:srgbClr val="16324F"/>
                </a:solidFill>
                <a:latin typeface="Inter"/>
                <a:ea typeface="Inter"/>
                <a:cs typeface="Inter"/>
              </a:defRPr>
            </a:lvl9pPr>
          </a:lstStyle>
          <a:p xmlns:a="http://schemas.openxmlformats.org/drawingml/2006/main">
            <a:pPr>
              <a:defRPr sz="3300" b="1">
                <a:solidFill>
                  <a:srgbClr val="16324F"/>
                </a:solidFill>
                <a:latin typeface="Inter"/>
                <a:ea typeface="Inter"/>
                <a:cs typeface="Inter"/>
              </a:defRPr>
            </a:pPr>
            <a:r>
              <a:rPr sz="3300" b="1">
                <a:solidFill>
                  <a:srgbClr val="16324F"/>
                </a:solidFill>
                <a:latin typeface="Inter"/>
                <a:ea typeface="Inter"/>
                <a:cs typeface="Inter"/>
              </a:rPr>
              <a:t>Giải pháp sản phẩm</a:t>
            </a:r>
          </a:p>
        </p:txBody>
      </p:sp>
      <p:sp>
        <p:nvSpPr>
          <p:cNvPr id="2" name="main-message">
            <a:extLst xmlns:a="http://schemas.openxmlformats.org/drawingml/2006/main">
              <a:ext uri="{FF2B5EF4-FFF2-40B4-BE49-F238E27FC236}">
                <a16:creationId xmlns:a16="http://schemas.microsoft.com/office/drawing/2014/main" id="{8C37BC50-2F60-4820-8162-2736517024C2}"/>
              </a:ext>
            </a:extLst>
          </p:cNvPr>
          <p:cNvSpPr>
            <a:spLocks xmlns:a="http://schemas.openxmlformats.org/drawingml/2006/main" noGrp="1"/>
          </p:cNvSpPr>
          <p:nvPr/>
        </p:nvSpPr>
        <p:spPr>
          <a:xfrm xmlns:a="http://schemas.openxmlformats.org/drawingml/2006/main">
            <a:off x="762000" y="1762125"/>
            <a:ext cx="106680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4950" b="1">
                <a:solidFill>
                  <a:srgbClr val="16324F"/>
                </a:solidFill>
                <a:latin typeface="Inter"/>
                <a:ea typeface="Inter"/>
                <a:cs typeface="Inter"/>
              </a:defRPr>
            </a:defPPr>
            <a:lvl1pPr>
              <a:defRPr sz="4950" b="1">
                <a:solidFill>
                  <a:srgbClr val="16324F"/>
                </a:solidFill>
                <a:latin typeface="Inter"/>
                <a:ea typeface="Inter"/>
                <a:cs typeface="Inter"/>
              </a:defRPr>
            </a:lvl1pPr>
            <a:lvl2pPr>
              <a:defRPr sz="4950" b="1">
                <a:solidFill>
                  <a:srgbClr val="16324F"/>
                </a:solidFill>
                <a:latin typeface="Inter"/>
                <a:ea typeface="Inter"/>
                <a:cs typeface="Inter"/>
              </a:defRPr>
            </a:lvl2pPr>
            <a:lvl3pPr>
              <a:defRPr sz="4950" b="1">
                <a:solidFill>
                  <a:srgbClr val="16324F"/>
                </a:solidFill>
                <a:latin typeface="Inter"/>
                <a:ea typeface="Inter"/>
                <a:cs typeface="Inter"/>
              </a:defRPr>
            </a:lvl3pPr>
            <a:lvl4pPr>
              <a:defRPr sz="4950" b="1">
                <a:solidFill>
                  <a:srgbClr val="16324F"/>
                </a:solidFill>
                <a:latin typeface="Inter"/>
                <a:ea typeface="Inter"/>
                <a:cs typeface="Inter"/>
              </a:defRPr>
            </a:lvl4pPr>
            <a:lvl5pPr>
              <a:defRPr sz="4950" b="1">
                <a:solidFill>
                  <a:srgbClr val="16324F"/>
                </a:solidFill>
                <a:latin typeface="Inter"/>
                <a:ea typeface="Inter"/>
                <a:cs typeface="Inter"/>
              </a:defRPr>
            </a:lvl5pPr>
            <a:lvl6pPr>
              <a:defRPr sz="4950" b="1">
                <a:solidFill>
                  <a:srgbClr val="16324F"/>
                </a:solidFill>
                <a:latin typeface="Inter"/>
                <a:ea typeface="Inter"/>
                <a:cs typeface="Inter"/>
              </a:defRPr>
            </a:lvl6pPr>
            <a:lvl7pPr>
              <a:defRPr sz="4950" b="1">
                <a:solidFill>
                  <a:srgbClr val="16324F"/>
                </a:solidFill>
                <a:latin typeface="Inter"/>
                <a:ea typeface="Inter"/>
                <a:cs typeface="Inter"/>
              </a:defRPr>
            </a:lvl7pPr>
            <a:lvl8pPr>
              <a:defRPr sz="4950" b="1">
                <a:solidFill>
                  <a:srgbClr val="16324F"/>
                </a:solidFill>
                <a:latin typeface="Inter"/>
                <a:ea typeface="Inter"/>
                <a:cs typeface="Inter"/>
              </a:defRPr>
            </a:lvl8pPr>
            <a:lvl9pPr>
              <a:defRPr sz="4950" b="1">
                <a:solidFill>
                  <a:srgbClr val="16324F"/>
                </a:solidFill>
                <a:latin typeface="Inter"/>
                <a:ea typeface="Inter"/>
                <a:cs typeface="Inter"/>
              </a:defRPr>
            </a:lvl9pPr>
          </a:lstStyle>
          <a:p xmlns:a="http://schemas.openxmlformats.org/drawingml/2006/main">
            <a:pPr>
              <a:defRPr sz="4950" b="1">
                <a:solidFill>
                  <a:srgbClr val="16324F"/>
                </a:solidFill>
                <a:latin typeface="Inter"/>
                <a:ea typeface="Inter"/>
                <a:cs typeface="Inter"/>
              </a:defRPr>
            </a:pPr>
            <a:r>
              <a:rPr sz="4950" b="1">
                <a:solidFill>
                  <a:srgbClr val="16324F"/>
                </a:solidFill>
                <a:latin typeface="Inter"/>
                <a:ea typeface="Inter"/>
                <a:cs typeface="Inter"/>
              </a:rPr>
              <a:t>Một hồ sơ</a:t>
            </a:r>
          </a:p>
          <a:p xmlns:a="http://schemas.openxmlformats.org/drawingml/2006/main">
            <a:pPr>
              <a:defRPr sz="4950" b="1">
                <a:solidFill>
                  <a:srgbClr val="16324F"/>
                </a:solidFill>
                <a:latin typeface="Inter"/>
                <a:ea typeface="Inter"/>
                <a:cs typeface="Inter"/>
              </a:defRPr>
            </a:pPr>
            <a:r>
              <a:rPr sz="4950" b="1">
                <a:solidFill>
                  <a:srgbClr val="16324F"/>
                </a:solidFill>
                <a:latin typeface="Inter"/>
                <a:ea typeface="Inter"/>
                <a:cs typeface="Inter"/>
              </a:rPr>
              <a:t>một lịch sử trả giá</a:t>
            </a:r>
          </a:p>
        </p:txBody>
      </p:sp>
      <p:sp>
        <p:nvSpPr>
          <p:cNvPr id="3" name="support">
            <a:extLst xmlns:a="http://schemas.openxmlformats.org/drawingml/2006/main">
              <a:ext uri="{FF2B5EF4-FFF2-40B4-BE49-F238E27FC236}">
                <a16:creationId xmlns:a16="http://schemas.microsoft.com/office/drawing/2014/main" id="{F3A2429D-C8E7-47DA-AA5A-FA75BAFB9FC3}"/>
              </a:ext>
            </a:extLst>
          </p:cNvPr>
          <p:cNvSpPr>
            <a:spLocks xmlns:a="http://schemas.openxmlformats.org/drawingml/2006/main" noGrp="1"/>
          </p:cNvSpPr>
          <p:nvPr/>
        </p:nvSpPr>
        <p:spPr>
          <a:xfrm xmlns:a="http://schemas.openxmlformats.org/drawingml/2006/main">
            <a:off x="800100" y="4438650"/>
            <a:ext cx="10572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000" b="0">
                <a:solidFill>
                  <a:srgbClr val="16324F"/>
                </a:solidFill>
                <a:latin typeface="Inter"/>
                <a:ea typeface="Inter"/>
                <a:cs typeface="Inter"/>
              </a:defRPr>
            </a:defPPr>
            <a:lvl1pPr>
              <a:defRPr sz="3000" b="0">
                <a:solidFill>
                  <a:srgbClr val="16324F"/>
                </a:solidFill>
                <a:latin typeface="Inter"/>
                <a:ea typeface="Inter"/>
                <a:cs typeface="Inter"/>
              </a:defRPr>
            </a:lvl1pPr>
            <a:lvl2pPr>
              <a:defRPr sz="3000" b="0">
                <a:solidFill>
                  <a:srgbClr val="16324F"/>
                </a:solidFill>
                <a:latin typeface="Inter"/>
                <a:ea typeface="Inter"/>
                <a:cs typeface="Inter"/>
              </a:defRPr>
            </a:lvl2pPr>
            <a:lvl3pPr>
              <a:defRPr sz="3000" b="0">
                <a:solidFill>
                  <a:srgbClr val="16324F"/>
                </a:solidFill>
                <a:latin typeface="Inter"/>
                <a:ea typeface="Inter"/>
                <a:cs typeface="Inter"/>
              </a:defRPr>
            </a:lvl3pPr>
            <a:lvl4pPr>
              <a:defRPr sz="3000" b="0">
                <a:solidFill>
                  <a:srgbClr val="16324F"/>
                </a:solidFill>
                <a:latin typeface="Inter"/>
                <a:ea typeface="Inter"/>
                <a:cs typeface="Inter"/>
              </a:defRPr>
            </a:lvl4pPr>
            <a:lvl5pPr>
              <a:defRPr sz="3000" b="0">
                <a:solidFill>
                  <a:srgbClr val="16324F"/>
                </a:solidFill>
                <a:latin typeface="Inter"/>
                <a:ea typeface="Inter"/>
                <a:cs typeface="Inter"/>
              </a:defRPr>
            </a:lvl5pPr>
            <a:lvl6pPr>
              <a:defRPr sz="3000" b="0">
                <a:solidFill>
                  <a:srgbClr val="16324F"/>
                </a:solidFill>
                <a:latin typeface="Inter"/>
                <a:ea typeface="Inter"/>
                <a:cs typeface="Inter"/>
              </a:defRPr>
            </a:lvl6pPr>
            <a:lvl7pPr>
              <a:defRPr sz="3000" b="0">
                <a:solidFill>
                  <a:srgbClr val="16324F"/>
                </a:solidFill>
                <a:latin typeface="Inter"/>
                <a:ea typeface="Inter"/>
                <a:cs typeface="Inter"/>
              </a:defRPr>
            </a:lvl7pPr>
            <a:lvl8pPr>
              <a:defRPr sz="3000" b="0">
                <a:solidFill>
                  <a:srgbClr val="16324F"/>
                </a:solidFill>
                <a:latin typeface="Inter"/>
                <a:ea typeface="Inter"/>
                <a:cs typeface="Inter"/>
              </a:defRPr>
            </a:lvl8pPr>
            <a:lvl9pPr>
              <a:defRPr sz="3000" b="0">
                <a:solidFill>
                  <a:srgbClr val="16324F"/>
                </a:solidFill>
                <a:latin typeface="Inter"/>
                <a:ea typeface="Inter"/>
                <a:cs typeface="Inter"/>
              </a:defRPr>
            </a:lvl9pPr>
          </a:lstStyle>
          <a:p xmlns:a="http://schemas.openxmlformats.org/drawingml/2006/main">
            <a:pPr>
              <a:defRPr sz="3000" b="0">
                <a:solidFill>
                  <a:srgbClr val="16324F"/>
                </a:solidFill>
                <a:latin typeface="Inter"/>
                <a:ea typeface="Inter"/>
                <a:cs typeface="Inter"/>
              </a:defRPr>
            </a:pPr>
            <a:r>
              <a:rPr sz="3000" b="0">
                <a:solidFill>
                  <a:srgbClr val="16324F"/>
                </a:solidFill>
                <a:latin typeface="Inter"/>
                <a:ea typeface="Inter"/>
                <a:cs typeface="Inter"/>
              </a:rPr>
              <a:t>Xem tài sản, kiểm tra điều kiện và theo dõi phiên trực tuyến.</a:t>
            </a:r>
          </a:p>
        </p:txBody>
      </p:sp>
      <p:sp>
        <p:nvSpPr>
          <p:cNvPr id="4" name="assumption">
            <a:extLst xmlns:a="http://schemas.openxmlformats.org/drawingml/2006/main">
              <a:ext uri="{FF2B5EF4-FFF2-40B4-BE49-F238E27FC236}">
                <a16:creationId xmlns:a16="http://schemas.microsoft.com/office/drawing/2014/main" id="{3C6BA50E-441D-4EEE-98BC-2D836D2D345B}"/>
              </a:ext>
            </a:extLst>
          </p:cNvPr>
          <p:cNvSpPr>
            <a:spLocks xmlns:a="http://schemas.openxmlformats.org/drawingml/2006/main" noGrp="1"/>
          </p:cNvSpPr>
          <p:nvPr/>
        </p:nvSpPr>
        <p:spPr>
          <a:xfrm xmlns:a="http://schemas.openxmlformats.org/drawingml/2006/main">
            <a:off x="800100" y="5905500"/>
            <a:ext cx="1000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000" b="0">
                <a:solidFill>
                  <a:srgbClr val="156F63"/>
                </a:solidFill>
                <a:latin typeface="Inter"/>
                <a:ea typeface="Inter"/>
                <a:cs typeface="Inter"/>
              </a:defRPr>
            </a:defPPr>
            <a:lvl1pPr>
              <a:defRPr sz="3000" b="0">
                <a:solidFill>
                  <a:srgbClr val="156F63"/>
                </a:solidFill>
                <a:latin typeface="Inter"/>
                <a:ea typeface="Inter"/>
                <a:cs typeface="Inter"/>
              </a:defRPr>
            </a:lvl1pPr>
            <a:lvl2pPr>
              <a:defRPr sz="3000" b="0">
                <a:solidFill>
                  <a:srgbClr val="156F63"/>
                </a:solidFill>
                <a:latin typeface="Inter"/>
                <a:ea typeface="Inter"/>
                <a:cs typeface="Inter"/>
              </a:defRPr>
            </a:lvl2pPr>
            <a:lvl3pPr>
              <a:defRPr sz="3000" b="0">
                <a:solidFill>
                  <a:srgbClr val="156F63"/>
                </a:solidFill>
                <a:latin typeface="Inter"/>
                <a:ea typeface="Inter"/>
                <a:cs typeface="Inter"/>
              </a:defRPr>
            </a:lvl3pPr>
            <a:lvl4pPr>
              <a:defRPr sz="3000" b="0">
                <a:solidFill>
                  <a:srgbClr val="156F63"/>
                </a:solidFill>
                <a:latin typeface="Inter"/>
                <a:ea typeface="Inter"/>
                <a:cs typeface="Inter"/>
              </a:defRPr>
            </a:lvl4pPr>
            <a:lvl5pPr>
              <a:defRPr sz="3000" b="0">
                <a:solidFill>
                  <a:srgbClr val="156F63"/>
                </a:solidFill>
                <a:latin typeface="Inter"/>
                <a:ea typeface="Inter"/>
                <a:cs typeface="Inter"/>
              </a:defRPr>
            </a:lvl5pPr>
            <a:lvl6pPr>
              <a:defRPr sz="3000" b="0">
                <a:solidFill>
                  <a:srgbClr val="156F63"/>
                </a:solidFill>
                <a:latin typeface="Inter"/>
                <a:ea typeface="Inter"/>
                <a:cs typeface="Inter"/>
              </a:defRPr>
            </a:lvl6pPr>
            <a:lvl7pPr>
              <a:defRPr sz="3000" b="0">
                <a:solidFill>
                  <a:srgbClr val="156F63"/>
                </a:solidFill>
                <a:latin typeface="Inter"/>
                <a:ea typeface="Inter"/>
                <a:cs typeface="Inter"/>
              </a:defRPr>
            </a:lvl7pPr>
            <a:lvl8pPr>
              <a:defRPr sz="3000" b="0">
                <a:solidFill>
                  <a:srgbClr val="156F63"/>
                </a:solidFill>
                <a:latin typeface="Inter"/>
                <a:ea typeface="Inter"/>
                <a:cs typeface="Inter"/>
              </a:defRPr>
            </a:lvl8pPr>
            <a:lvl9pPr>
              <a:defRPr sz="3000" b="0">
                <a:solidFill>
                  <a:srgbClr val="156F63"/>
                </a:solidFill>
                <a:latin typeface="Inter"/>
                <a:ea typeface="Inter"/>
                <a:cs typeface="Inter"/>
              </a:defRPr>
            </a:lvl9pPr>
          </a:lstStyle>
          <a:p xmlns:a="http://schemas.openxmlformats.org/drawingml/2006/main">
            <a:pPr>
              <a:defRPr sz="3000" b="0">
                <a:solidFill>
                  <a:srgbClr val="156F63"/>
                </a:solidFill>
                <a:latin typeface="Inter"/>
                <a:ea typeface="Inter"/>
                <a:cs typeface="Inter"/>
              </a:defRPr>
            </a:pPr>
            <a:r>
              <a:rPr sz="3000" b="0">
                <a:solidFill>
                  <a:srgbClr val="156F63"/>
                </a:solidFill>
                <a:latin typeface="Inter"/>
                <a:ea typeface="Inter"/>
                <a:cs typeface="Inter"/>
              </a:rPr>
              <a:t>MVP đề xuất</a:t>
            </a:r>
          </a:p>
        </p:txBody>
      </p:sp>
    </p:spTree>
    <p:extLst>
      <p:ext uri="{BB962C8B-B14F-4D97-AF65-F5344CB8AC3E}">
        <p14:creationId xmlns:p14="http://schemas.microsoft.com/office/powerpoint/2010/main" val="672620834"/>
      </p:ext>
    </p:extLst>
  </p:cSld>
</p:sld>
</file>

<file path=ppt/slides/slide5.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83B8DD5-9430-4D02-B18E-75CDB3FBAFFA}"/>
              </a:ext>
            </a:extLst>
          </p:cNvPr>
          <p:cNvSpPr>
            <a:spLocks xmlns:a="http://schemas.openxmlformats.org/drawingml/2006/main" noGrp="1"/>
          </p:cNvSpPr>
          <p:nvPr/>
        </p:nvSpPr>
        <p:spPr>
          <a:xfrm xmlns:a="http://schemas.openxmlformats.org/drawingml/2006/main">
            <a:off x="762000" y="55245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300" b="1">
                <a:solidFill>
                  <a:srgbClr val="16324F"/>
                </a:solidFill>
                <a:latin typeface="Inter"/>
                <a:ea typeface="Inter"/>
                <a:cs typeface="Inter"/>
              </a:defRPr>
            </a:defPPr>
            <a:lvl1pPr>
              <a:defRPr sz="3300" b="1">
                <a:solidFill>
                  <a:srgbClr val="16324F"/>
                </a:solidFill>
                <a:latin typeface="Inter"/>
                <a:ea typeface="Inter"/>
                <a:cs typeface="Inter"/>
              </a:defRPr>
            </a:lvl1pPr>
            <a:lvl2pPr>
              <a:defRPr sz="3300" b="1">
                <a:solidFill>
                  <a:srgbClr val="16324F"/>
                </a:solidFill>
                <a:latin typeface="Inter"/>
                <a:ea typeface="Inter"/>
                <a:cs typeface="Inter"/>
              </a:defRPr>
            </a:lvl2pPr>
            <a:lvl3pPr>
              <a:defRPr sz="3300" b="1">
                <a:solidFill>
                  <a:srgbClr val="16324F"/>
                </a:solidFill>
                <a:latin typeface="Inter"/>
                <a:ea typeface="Inter"/>
                <a:cs typeface="Inter"/>
              </a:defRPr>
            </a:lvl3pPr>
            <a:lvl4pPr>
              <a:defRPr sz="3300" b="1">
                <a:solidFill>
                  <a:srgbClr val="16324F"/>
                </a:solidFill>
                <a:latin typeface="Inter"/>
                <a:ea typeface="Inter"/>
                <a:cs typeface="Inter"/>
              </a:defRPr>
            </a:lvl4pPr>
            <a:lvl5pPr>
              <a:defRPr sz="3300" b="1">
                <a:solidFill>
                  <a:srgbClr val="16324F"/>
                </a:solidFill>
                <a:latin typeface="Inter"/>
                <a:ea typeface="Inter"/>
                <a:cs typeface="Inter"/>
              </a:defRPr>
            </a:lvl5pPr>
            <a:lvl6pPr>
              <a:defRPr sz="3300" b="1">
                <a:solidFill>
                  <a:srgbClr val="16324F"/>
                </a:solidFill>
                <a:latin typeface="Inter"/>
                <a:ea typeface="Inter"/>
                <a:cs typeface="Inter"/>
              </a:defRPr>
            </a:lvl6pPr>
            <a:lvl7pPr>
              <a:defRPr sz="3300" b="1">
                <a:solidFill>
                  <a:srgbClr val="16324F"/>
                </a:solidFill>
                <a:latin typeface="Inter"/>
                <a:ea typeface="Inter"/>
                <a:cs typeface="Inter"/>
              </a:defRPr>
            </a:lvl7pPr>
            <a:lvl8pPr>
              <a:defRPr sz="3300" b="1">
                <a:solidFill>
                  <a:srgbClr val="16324F"/>
                </a:solidFill>
                <a:latin typeface="Inter"/>
                <a:ea typeface="Inter"/>
                <a:cs typeface="Inter"/>
              </a:defRPr>
            </a:lvl8pPr>
            <a:lvl9pPr>
              <a:defRPr sz="3300" b="1">
                <a:solidFill>
                  <a:srgbClr val="16324F"/>
                </a:solidFill>
                <a:latin typeface="Inter"/>
                <a:ea typeface="Inter"/>
                <a:cs typeface="Inter"/>
              </a:defRPr>
            </a:lvl9pPr>
          </a:lstStyle>
          <a:p xmlns:a="http://schemas.openxmlformats.org/drawingml/2006/main">
            <a:pPr>
              <a:defRPr sz="3300" b="1">
                <a:solidFill>
                  <a:srgbClr val="16324F"/>
                </a:solidFill>
                <a:latin typeface="Inter"/>
                <a:ea typeface="Inter"/>
                <a:cs typeface="Inter"/>
              </a:defRPr>
            </a:pPr>
            <a:r>
              <a:rPr sz="3300" b="1">
                <a:solidFill>
                  <a:srgbClr val="16324F"/>
                </a:solidFill>
                <a:latin typeface="Inter"/>
                <a:ea typeface="Inter"/>
                <a:cs typeface="Inter"/>
              </a:rPr>
              <a:t>Độ tin cậy của phiên</a:t>
            </a:r>
          </a:p>
        </p:txBody>
      </p:sp>
      <p:sp>
        <p:nvSpPr>
          <p:cNvPr id="2" name="main-message">
            <a:extLst xmlns:a="http://schemas.openxmlformats.org/drawingml/2006/main">
              <a:ext uri="{FF2B5EF4-FFF2-40B4-BE49-F238E27FC236}">
                <a16:creationId xmlns:a16="http://schemas.microsoft.com/office/drawing/2014/main" id="{F9E2377C-941E-40B4-ACF2-4988311E45FD}"/>
              </a:ext>
            </a:extLst>
          </p:cNvPr>
          <p:cNvSpPr>
            <a:spLocks xmlns:a="http://schemas.openxmlformats.org/drawingml/2006/main" noGrp="1"/>
          </p:cNvSpPr>
          <p:nvPr/>
        </p:nvSpPr>
        <p:spPr>
          <a:xfrm xmlns:a="http://schemas.openxmlformats.org/drawingml/2006/main">
            <a:off x="762000" y="1762125"/>
            <a:ext cx="106680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4950" b="1">
                <a:solidFill>
                  <a:srgbClr val="16324F"/>
                </a:solidFill>
                <a:latin typeface="Inter"/>
                <a:ea typeface="Inter"/>
                <a:cs typeface="Inter"/>
              </a:defRPr>
            </a:defPPr>
            <a:lvl1pPr>
              <a:defRPr sz="4950" b="1">
                <a:solidFill>
                  <a:srgbClr val="16324F"/>
                </a:solidFill>
                <a:latin typeface="Inter"/>
                <a:ea typeface="Inter"/>
                <a:cs typeface="Inter"/>
              </a:defRPr>
            </a:lvl1pPr>
            <a:lvl2pPr>
              <a:defRPr sz="4950" b="1">
                <a:solidFill>
                  <a:srgbClr val="16324F"/>
                </a:solidFill>
                <a:latin typeface="Inter"/>
                <a:ea typeface="Inter"/>
                <a:cs typeface="Inter"/>
              </a:defRPr>
            </a:lvl2pPr>
            <a:lvl3pPr>
              <a:defRPr sz="4950" b="1">
                <a:solidFill>
                  <a:srgbClr val="16324F"/>
                </a:solidFill>
                <a:latin typeface="Inter"/>
                <a:ea typeface="Inter"/>
                <a:cs typeface="Inter"/>
              </a:defRPr>
            </a:lvl3pPr>
            <a:lvl4pPr>
              <a:defRPr sz="4950" b="1">
                <a:solidFill>
                  <a:srgbClr val="16324F"/>
                </a:solidFill>
                <a:latin typeface="Inter"/>
                <a:ea typeface="Inter"/>
                <a:cs typeface="Inter"/>
              </a:defRPr>
            </a:lvl4pPr>
            <a:lvl5pPr>
              <a:defRPr sz="4950" b="1">
                <a:solidFill>
                  <a:srgbClr val="16324F"/>
                </a:solidFill>
                <a:latin typeface="Inter"/>
                <a:ea typeface="Inter"/>
                <a:cs typeface="Inter"/>
              </a:defRPr>
            </a:lvl5pPr>
            <a:lvl6pPr>
              <a:defRPr sz="4950" b="1">
                <a:solidFill>
                  <a:srgbClr val="16324F"/>
                </a:solidFill>
                <a:latin typeface="Inter"/>
                <a:ea typeface="Inter"/>
                <a:cs typeface="Inter"/>
              </a:defRPr>
            </a:lvl6pPr>
            <a:lvl7pPr>
              <a:defRPr sz="4950" b="1">
                <a:solidFill>
                  <a:srgbClr val="16324F"/>
                </a:solidFill>
                <a:latin typeface="Inter"/>
                <a:ea typeface="Inter"/>
                <a:cs typeface="Inter"/>
              </a:defRPr>
            </a:lvl7pPr>
            <a:lvl8pPr>
              <a:defRPr sz="4950" b="1">
                <a:solidFill>
                  <a:srgbClr val="16324F"/>
                </a:solidFill>
                <a:latin typeface="Inter"/>
                <a:ea typeface="Inter"/>
                <a:cs typeface="Inter"/>
              </a:defRPr>
            </a:lvl8pPr>
            <a:lvl9pPr>
              <a:defRPr sz="4950" b="1">
                <a:solidFill>
                  <a:srgbClr val="16324F"/>
                </a:solidFill>
                <a:latin typeface="Inter"/>
                <a:ea typeface="Inter"/>
                <a:cs typeface="Inter"/>
              </a:defRPr>
            </a:lvl9pPr>
          </a:lstStyle>
          <a:p xmlns:a="http://schemas.openxmlformats.org/drawingml/2006/main">
            <a:pPr>
              <a:defRPr sz="4950" b="1">
                <a:solidFill>
                  <a:srgbClr val="16324F"/>
                </a:solidFill>
                <a:latin typeface="Inter"/>
                <a:ea typeface="Inter"/>
                <a:cs typeface="Inter"/>
              </a:defRPr>
            </a:pPr>
            <a:r>
              <a:rPr sz="4950" b="1">
                <a:solidFill>
                  <a:srgbClr val="16324F"/>
                </a:solidFill>
                <a:latin typeface="Inter"/>
                <a:ea typeface="Inter"/>
                <a:cs typeface="Inter"/>
              </a:rPr>
              <a:t>Máy chủ quyết định</a:t>
            </a:r>
          </a:p>
          <a:p xmlns:a="http://schemas.openxmlformats.org/drawingml/2006/main">
            <a:pPr>
              <a:defRPr sz="4950" b="1">
                <a:solidFill>
                  <a:srgbClr val="16324F"/>
                </a:solidFill>
                <a:latin typeface="Inter"/>
                <a:ea typeface="Inter"/>
                <a:cs typeface="Inter"/>
              </a:defRPr>
            </a:pPr>
            <a:r>
              <a:rPr sz="4950" b="1">
                <a:solidFill>
                  <a:srgbClr val="16324F"/>
                </a:solidFill>
                <a:latin typeface="Inter"/>
                <a:ea typeface="Inter"/>
                <a:cs typeface="Inter"/>
              </a:rPr>
              <a:t>giá hợp lệ</a:t>
            </a:r>
          </a:p>
        </p:txBody>
      </p:sp>
      <p:sp>
        <p:nvSpPr>
          <p:cNvPr id="3" name="support">
            <a:extLst xmlns:a="http://schemas.openxmlformats.org/drawingml/2006/main">
              <a:ext uri="{FF2B5EF4-FFF2-40B4-BE49-F238E27FC236}">
                <a16:creationId xmlns:a16="http://schemas.microsoft.com/office/drawing/2014/main" id="{F9505B61-4EBF-4A9D-BAB1-0D7EF82BB02B}"/>
              </a:ext>
            </a:extLst>
          </p:cNvPr>
          <p:cNvSpPr>
            <a:spLocks xmlns:a="http://schemas.openxmlformats.org/drawingml/2006/main" noGrp="1"/>
          </p:cNvSpPr>
          <p:nvPr/>
        </p:nvSpPr>
        <p:spPr>
          <a:xfrm xmlns:a="http://schemas.openxmlformats.org/drawingml/2006/main">
            <a:off x="800100" y="4438650"/>
            <a:ext cx="10572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000" b="0">
                <a:solidFill>
                  <a:srgbClr val="16324F"/>
                </a:solidFill>
                <a:latin typeface="Inter"/>
                <a:ea typeface="Inter"/>
                <a:cs typeface="Inter"/>
              </a:defRPr>
            </a:defPPr>
            <a:lvl1pPr>
              <a:defRPr sz="3000" b="0">
                <a:solidFill>
                  <a:srgbClr val="16324F"/>
                </a:solidFill>
                <a:latin typeface="Inter"/>
                <a:ea typeface="Inter"/>
                <a:cs typeface="Inter"/>
              </a:defRPr>
            </a:lvl1pPr>
            <a:lvl2pPr>
              <a:defRPr sz="3000" b="0">
                <a:solidFill>
                  <a:srgbClr val="16324F"/>
                </a:solidFill>
                <a:latin typeface="Inter"/>
                <a:ea typeface="Inter"/>
                <a:cs typeface="Inter"/>
              </a:defRPr>
            </a:lvl2pPr>
            <a:lvl3pPr>
              <a:defRPr sz="3000" b="0">
                <a:solidFill>
                  <a:srgbClr val="16324F"/>
                </a:solidFill>
                <a:latin typeface="Inter"/>
                <a:ea typeface="Inter"/>
                <a:cs typeface="Inter"/>
              </a:defRPr>
            </a:lvl3pPr>
            <a:lvl4pPr>
              <a:defRPr sz="3000" b="0">
                <a:solidFill>
                  <a:srgbClr val="16324F"/>
                </a:solidFill>
                <a:latin typeface="Inter"/>
                <a:ea typeface="Inter"/>
                <a:cs typeface="Inter"/>
              </a:defRPr>
            </a:lvl4pPr>
            <a:lvl5pPr>
              <a:defRPr sz="3000" b="0">
                <a:solidFill>
                  <a:srgbClr val="16324F"/>
                </a:solidFill>
                <a:latin typeface="Inter"/>
                <a:ea typeface="Inter"/>
                <a:cs typeface="Inter"/>
              </a:defRPr>
            </a:lvl5pPr>
            <a:lvl6pPr>
              <a:defRPr sz="3000" b="0">
                <a:solidFill>
                  <a:srgbClr val="16324F"/>
                </a:solidFill>
                <a:latin typeface="Inter"/>
                <a:ea typeface="Inter"/>
                <a:cs typeface="Inter"/>
              </a:defRPr>
            </a:lvl6pPr>
            <a:lvl7pPr>
              <a:defRPr sz="3000" b="0">
                <a:solidFill>
                  <a:srgbClr val="16324F"/>
                </a:solidFill>
                <a:latin typeface="Inter"/>
                <a:ea typeface="Inter"/>
                <a:cs typeface="Inter"/>
              </a:defRPr>
            </a:lvl7pPr>
            <a:lvl8pPr>
              <a:defRPr sz="3000" b="0">
                <a:solidFill>
                  <a:srgbClr val="16324F"/>
                </a:solidFill>
                <a:latin typeface="Inter"/>
                <a:ea typeface="Inter"/>
                <a:cs typeface="Inter"/>
              </a:defRPr>
            </a:lvl8pPr>
            <a:lvl9pPr>
              <a:defRPr sz="3000" b="0">
                <a:solidFill>
                  <a:srgbClr val="16324F"/>
                </a:solidFill>
                <a:latin typeface="Inter"/>
                <a:ea typeface="Inter"/>
                <a:cs typeface="Inter"/>
              </a:defRPr>
            </a:lvl9pPr>
          </a:lstStyle>
          <a:p xmlns:a="http://schemas.openxmlformats.org/drawingml/2006/main">
            <a:pPr>
              <a:defRPr sz="3000" b="0">
                <a:solidFill>
                  <a:srgbClr val="16324F"/>
                </a:solidFill>
                <a:latin typeface="Inter"/>
                <a:ea typeface="Inter"/>
                <a:cs typeface="Inter"/>
              </a:defRPr>
            </a:pPr>
            <a:r>
              <a:rPr sz="3000" b="0">
                <a:solidFill>
                  <a:srgbClr val="16324F"/>
                </a:solidFill>
                <a:latin typeface="Inter"/>
                <a:ea typeface="Inter"/>
                <a:cs typeface="Inter"/>
              </a:rPr>
              <a:t>Xử lý tuần tự, lưu nhật ký và chốt đúng thời điểm.</a:t>
            </a:r>
          </a:p>
        </p:txBody>
      </p:sp>
      <p:sp>
        <p:nvSpPr>
          <p:cNvPr id="4" name="assumption">
            <a:extLst xmlns:a="http://schemas.openxmlformats.org/drawingml/2006/main">
              <a:ext uri="{FF2B5EF4-FFF2-40B4-BE49-F238E27FC236}">
                <a16:creationId xmlns:a16="http://schemas.microsoft.com/office/drawing/2014/main" id="{9490AA73-E777-43FC-8459-DE5E511E3D0D}"/>
              </a:ext>
            </a:extLst>
          </p:cNvPr>
          <p:cNvSpPr>
            <a:spLocks xmlns:a="http://schemas.openxmlformats.org/drawingml/2006/main" noGrp="1"/>
          </p:cNvSpPr>
          <p:nvPr/>
        </p:nvSpPr>
        <p:spPr>
          <a:xfrm xmlns:a="http://schemas.openxmlformats.org/drawingml/2006/main">
            <a:off x="800100" y="5905500"/>
            <a:ext cx="1000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000" b="0">
                <a:solidFill>
                  <a:srgbClr val="156F63"/>
                </a:solidFill>
                <a:latin typeface="Inter"/>
                <a:ea typeface="Inter"/>
                <a:cs typeface="Inter"/>
              </a:defRPr>
            </a:defPPr>
            <a:lvl1pPr>
              <a:defRPr sz="3000" b="0">
                <a:solidFill>
                  <a:srgbClr val="156F63"/>
                </a:solidFill>
                <a:latin typeface="Inter"/>
                <a:ea typeface="Inter"/>
                <a:cs typeface="Inter"/>
              </a:defRPr>
            </a:lvl1pPr>
            <a:lvl2pPr>
              <a:defRPr sz="3000" b="0">
                <a:solidFill>
                  <a:srgbClr val="156F63"/>
                </a:solidFill>
                <a:latin typeface="Inter"/>
                <a:ea typeface="Inter"/>
                <a:cs typeface="Inter"/>
              </a:defRPr>
            </a:lvl2pPr>
            <a:lvl3pPr>
              <a:defRPr sz="3000" b="0">
                <a:solidFill>
                  <a:srgbClr val="156F63"/>
                </a:solidFill>
                <a:latin typeface="Inter"/>
                <a:ea typeface="Inter"/>
                <a:cs typeface="Inter"/>
              </a:defRPr>
            </a:lvl3pPr>
            <a:lvl4pPr>
              <a:defRPr sz="3000" b="0">
                <a:solidFill>
                  <a:srgbClr val="156F63"/>
                </a:solidFill>
                <a:latin typeface="Inter"/>
                <a:ea typeface="Inter"/>
                <a:cs typeface="Inter"/>
              </a:defRPr>
            </a:lvl4pPr>
            <a:lvl5pPr>
              <a:defRPr sz="3000" b="0">
                <a:solidFill>
                  <a:srgbClr val="156F63"/>
                </a:solidFill>
                <a:latin typeface="Inter"/>
                <a:ea typeface="Inter"/>
                <a:cs typeface="Inter"/>
              </a:defRPr>
            </a:lvl5pPr>
            <a:lvl6pPr>
              <a:defRPr sz="3000" b="0">
                <a:solidFill>
                  <a:srgbClr val="156F63"/>
                </a:solidFill>
                <a:latin typeface="Inter"/>
                <a:ea typeface="Inter"/>
                <a:cs typeface="Inter"/>
              </a:defRPr>
            </a:lvl6pPr>
            <a:lvl7pPr>
              <a:defRPr sz="3000" b="0">
                <a:solidFill>
                  <a:srgbClr val="156F63"/>
                </a:solidFill>
                <a:latin typeface="Inter"/>
                <a:ea typeface="Inter"/>
                <a:cs typeface="Inter"/>
              </a:defRPr>
            </a:lvl7pPr>
            <a:lvl8pPr>
              <a:defRPr sz="3000" b="0">
                <a:solidFill>
                  <a:srgbClr val="156F63"/>
                </a:solidFill>
                <a:latin typeface="Inter"/>
                <a:ea typeface="Inter"/>
                <a:cs typeface="Inter"/>
              </a:defRPr>
            </a:lvl8pPr>
            <a:lvl9pPr>
              <a:defRPr sz="3000" b="0">
                <a:solidFill>
                  <a:srgbClr val="156F63"/>
                </a:solidFill>
                <a:latin typeface="Inter"/>
                <a:ea typeface="Inter"/>
                <a:cs typeface="Inter"/>
              </a:defRPr>
            </a:lvl9pPr>
          </a:lstStyle>
          <a:p xmlns:a="http://schemas.openxmlformats.org/drawingml/2006/main">
            <a:pPr>
              <a:defRPr sz="3000" b="0">
                <a:solidFill>
                  <a:srgbClr val="156F63"/>
                </a:solidFill>
                <a:latin typeface="Inter"/>
                <a:ea typeface="Inter"/>
                <a:cs typeface="Inter"/>
              </a:defRPr>
            </a:pPr>
            <a:r>
              <a:rPr sz="3000" b="0">
                <a:solidFill>
                  <a:srgbClr val="156F63"/>
                </a:solidFill>
                <a:latin typeface="Inter"/>
                <a:ea typeface="Inter"/>
                <a:cs typeface="Inter"/>
              </a:rPr>
              <a:t>Nguyên tắc kỹ thuật</a:t>
            </a:r>
          </a:p>
        </p:txBody>
      </p:sp>
    </p:spTree>
    <p:extLst>
      <p:ext uri="{BB962C8B-B14F-4D97-AF65-F5344CB8AC3E}">
        <p14:creationId xmlns:p14="http://schemas.microsoft.com/office/powerpoint/2010/main" val="110678600"/>
      </p:ext>
    </p:extLst>
  </p:cSld>
</p:sld>
</file>

<file path=ppt/slides/slide6.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382FF68-BA75-4099-8904-68D6CDE2E63D}"/>
              </a:ext>
            </a:extLst>
          </p:cNvPr>
          <p:cNvSpPr>
            <a:spLocks xmlns:a="http://schemas.openxmlformats.org/drawingml/2006/main" noGrp="1"/>
          </p:cNvSpPr>
          <p:nvPr/>
        </p:nvSpPr>
        <p:spPr>
          <a:xfrm xmlns:a="http://schemas.openxmlformats.org/drawingml/2006/main">
            <a:off x="762000" y="55245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300" b="1">
                <a:solidFill>
                  <a:srgbClr val="16324F"/>
                </a:solidFill>
                <a:latin typeface="Inter"/>
                <a:ea typeface="Inter"/>
                <a:cs typeface="Inter"/>
              </a:defRPr>
            </a:defPPr>
            <a:lvl1pPr>
              <a:defRPr sz="3300" b="1">
                <a:solidFill>
                  <a:srgbClr val="16324F"/>
                </a:solidFill>
                <a:latin typeface="Inter"/>
                <a:ea typeface="Inter"/>
                <a:cs typeface="Inter"/>
              </a:defRPr>
            </a:lvl1pPr>
            <a:lvl2pPr>
              <a:defRPr sz="3300" b="1">
                <a:solidFill>
                  <a:srgbClr val="16324F"/>
                </a:solidFill>
                <a:latin typeface="Inter"/>
                <a:ea typeface="Inter"/>
                <a:cs typeface="Inter"/>
              </a:defRPr>
            </a:lvl2pPr>
            <a:lvl3pPr>
              <a:defRPr sz="3300" b="1">
                <a:solidFill>
                  <a:srgbClr val="16324F"/>
                </a:solidFill>
                <a:latin typeface="Inter"/>
                <a:ea typeface="Inter"/>
                <a:cs typeface="Inter"/>
              </a:defRPr>
            </a:lvl3pPr>
            <a:lvl4pPr>
              <a:defRPr sz="3300" b="1">
                <a:solidFill>
                  <a:srgbClr val="16324F"/>
                </a:solidFill>
                <a:latin typeface="Inter"/>
                <a:ea typeface="Inter"/>
                <a:cs typeface="Inter"/>
              </a:defRPr>
            </a:lvl4pPr>
            <a:lvl5pPr>
              <a:defRPr sz="3300" b="1">
                <a:solidFill>
                  <a:srgbClr val="16324F"/>
                </a:solidFill>
                <a:latin typeface="Inter"/>
                <a:ea typeface="Inter"/>
                <a:cs typeface="Inter"/>
              </a:defRPr>
            </a:lvl5pPr>
            <a:lvl6pPr>
              <a:defRPr sz="3300" b="1">
                <a:solidFill>
                  <a:srgbClr val="16324F"/>
                </a:solidFill>
                <a:latin typeface="Inter"/>
                <a:ea typeface="Inter"/>
                <a:cs typeface="Inter"/>
              </a:defRPr>
            </a:lvl6pPr>
            <a:lvl7pPr>
              <a:defRPr sz="3300" b="1">
                <a:solidFill>
                  <a:srgbClr val="16324F"/>
                </a:solidFill>
                <a:latin typeface="Inter"/>
                <a:ea typeface="Inter"/>
                <a:cs typeface="Inter"/>
              </a:defRPr>
            </a:lvl7pPr>
            <a:lvl8pPr>
              <a:defRPr sz="3300" b="1">
                <a:solidFill>
                  <a:srgbClr val="16324F"/>
                </a:solidFill>
                <a:latin typeface="Inter"/>
                <a:ea typeface="Inter"/>
                <a:cs typeface="Inter"/>
              </a:defRPr>
            </a:lvl8pPr>
            <a:lvl9pPr>
              <a:defRPr sz="3300" b="1">
                <a:solidFill>
                  <a:srgbClr val="16324F"/>
                </a:solidFill>
                <a:latin typeface="Inter"/>
                <a:ea typeface="Inter"/>
                <a:cs typeface="Inter"/>
              </a:defRPr>
            </a:lvl9pPr>
          </a:lstStyle>
          <a:p xmlns:a="http://schemas.openxmlformats.org/drawingml/2006/main">
            <a:pPr>
              <a:defRPr sz="3300" b="1">
                <a:solidFill>
                  <a:srgbClr val="16324F"/>
                </a:solidFill>
                <a:latin typeface="Inter"/>
                <a:ea typeface="Inter"/>
                <a:cs typeface="Inter"/>
              </a:defRPr>
            </a:pPr>
            <a:r>
              <a:rPr sz="3300" b="1">
                <a:solidFill>
                  <a:srgbClr val="16324F"/>
                </a:solidFill>
                <a:latin typeface="Inter"/>
                <a:ea typeface="Inter"/>
                <a:cs typeface="Inter"/>
              </a:rPr>
              <a:t>Doanh thu nền tảng</a:t>
            </a:r>
          </a:p>
        </p:txBody>
      </p:sp>
      <p:sp>
        <p:nvSpPr>
          <p:cNvPr id="2" name="main-message">
            <a:extLst xmlns:a="http://schemas.openxmlformats.org/drawingml/2006/main">
              <a:ext uri="{FF2B5EF4-FFF2-40B4-BE49-F238E27FC236}">
                <a16:creationId xmlns:a16="http://schemas.microsoft.com/office/drawing/2014/main" id="{99260E15-D813-4936-A205-C7115BB3DCF8}"/>
              </a:ext>
            </a:extLst>
          </p:cNvPr>
          <p:cNvSpPr>
            <a:spLocks xmlns:a="http://schemas.openxmlformats.org/drawingml/2006/main" noGrp="1"/>
          </p:cNvSpPr>
          <p:nvPr/>
        </p:nvSpPr>
        <p:spPr>
          <a:xfrm xmlns:a="http://schemas.openxmlformats.org/drawingml/2006/main">
            <a:off x="762000" y="1762125"/>
            <a:ext cx="106680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4950" b="1">
                <a:solidFill>
                  <a:srgbClr val="16324F"/>
                </a:solidFill>
                <a:latin typeface="Inter"/>
                <a:ea typeface="Inter"/>
                <a:cs typeface="Inter"/>
              </a:defRPr>
            </a:defPPr>
            <a:lvl1pPr>
              <a:defRPr sz="4950" b="1">
                <a:solidFill>
                  <a:srgbClr val="16324F"/>
                </a:solidFill>
                <a:latin typeface="Inter"/>
                <a:ea typeface="Inter"/>
                <a:cs typeface="Inter"/>
              </a:defRPr>
            </a:lvl1pPr>
            <a:lvl2pPr>
              <a:defRPr sz="4950" b="1">
                <a:solidFill>
                  <a:srgbClr val="16324F"/>
                </a:solidFill>
                <a:latin typeface="Inter"/>
                <a:ea typeface="Inter"/>
                <a:cs typeface="Inter"/>
              </a:defRPr>
            </a:lvl2pPr>
            <a:lvl3pPr>
              <a:defRPr sz="4950" b="1">
                <a:solidFill>
                  <a:srgbClr val="16324F"/>
                </a:solidFill>
                <a:latin typeface="Inter"/>
                <a:ea typeface="Inter"/>
                <a:cs typeface="Inter"/>
              </a:defRPr>
            </a:lvl3pPr>
            <a:lvl4pPr>
              <a:defRPr sz="4950" b="1">
                <a:solidFill>
                  <a:srgbClr val="16324F"/>
                </a:solidFill>
                <a:latin typeface="Inter"/>
                <a:ea typeface="Inter"/>
                <a:cs typeface="Inter"/>
              </a:defRPr>
            </a:lvl4pPr>
            <a:lvl5pPr>
              <a:defRPr sz="4950" b="1">
                <a:solidFill>
                  <a:srgbClr val="16324F"/>
                </a:solidFill>
                <a:latin typeface="Inter"/>
                <a:ea typeface="Inter"/>
                <a:cs typeface="Inter"/>
              </a:defRPr>
            </a:lvl5pPr>
            <a:lvl6pPr>
              <a:defRPr sz="4950" b="1">
                <a:solidFill>
                  <a:srgbClr val="16324F"/>
                </a:solidFill>
                <a:latin typeface="Inter"/>
                <a:ea typeface="Inter"/>
                <a:cs typeface="Inter"/>
              </a:defRPr>
            </a:lvl6pPr>
            <a:lvl7pPr>
              <a:defRPr sz="4950" b="1">
                <a:solidFill>
                  <a:srgbClr val="16324F"/>
                </a:solidFill>
                <a:latin typeface="Inter"/>
                <a:ea typeface="Inter"/>
                <a:cs typeface="Inter"/>
              </a:defRPr>
            </a:lvl7pPr>
            <a:lvl8pPr>
              <a:defRPr sz="4950" b="1">
                <a:solidFill>
                  <a:srgbClr val="16324F"/>
                </a:solidFill>
                <a:latin typeface="Inter"/>
                <a:ea typeface="Inter"/>
                <a:cs typeface="Inter"/>
              </a:defRPr>
            </a:lvl8pPr>
            <a:lvl9pPr>
              <a:defRPr sz="4950" b="1">
                <a:solidFill>
                  <a:srgbClr val="16324F"/>
                </a:solidFill>
                <a:latin typeface="Inter"/>
                <a:ea typeface="Inter"/>
                <a:cs typeface="Inter"/>
              </a:defRPr>
            </a:lvl9pPr>
          </a:lstStyle>
          <a:p xmlns:a="http://schemas.openxmlformats.org/drawingml/2006/main">
            <a:pPr>
              <a:defRPr sz="4950" b="1">
                <a:solidFill>
                  <a:srgbClr val="16324F"/>
                </a:solidFill>
                <a:latin typeface="Inter"/>
                <a:ea typeface="Inter"/>
                <a:cs typeface="Inter"/>
              </a:defRPr>
            </a:pPr>
            <a:r>
              <a:rPr sz="4950" b="1">
                <a:solidFill>
                  <a:srgbClr val="16324F"/>
                </a:solidFill>
                <a:latin typeface="Inter"/>
                <a:ea typeface="Inter"/>
                <a:cs typeface="Inter"/>
              </a:rPr>
              <a:t>5 triệu đồng</a:t>
            </a:r>
          </a:p>
          <a:p xmlns:a="http://schemas.openxmlformats.org/drawingml/2006/main">
            <a:pPr>
              <a:defRPr sz="4950" b="1">
                <a:solidFill>
                  <a:srgbClr val="16324F"/>
                </a:solidFill>
                <a:latin typeface="Inter"/>
                <a:ea typeface="Inter"/>
                <a:cs typeface="Inter"/>
              </a:defRPr>
            </a:pPr>
            <a:r>
              <a:rPr sz="4950" b="1">
                <a:solidFill>
                  <a:srgbClr val="16324F"/>
                </a:solidFill>
                <a:latin typeface="Inter"/>
                <a:ea typeface="Inter"/>
                <a:cs typeface="Inter"/>
              </a:rPr>
              <a:t>cho một giao dịch</a:t>
            </a:r>
          </a:p>
        </p:txBody>
      </p:sp>
      <p:sp>
        <p:nvSpPr>
          <p:cNvPr id="3" name="support">
            <a:extLst xmlns:a="http://schemas.openxmlformats.org/drawingml/2006/main">
              <a:ext uri="{FF2B5EF4-FFF2-40B4-BE49-F238E27FC236}">
                <a16:creationId xmlns:a16="http://schemas.microsoft.com/office/drawing/2014/main" id="{4B0C1974-A726-437A-95F4-A0483C663FFE}"/>
              </a:ext>
            </a:extLst>
          </p:cNvPr>
          <p:cNvSpPr>
            <a:spLocks xmlns:a="http://schemas.openxmlformats.org/drawingml/2006/main" noGrp="1"/>
          </p:cNvSpPr>
          <p:nvPr/>
        </p:nvSpPr>
        <p:spPr>
          <a:xfrm xmlns:a="http://schemas.openxmlformats.org/drawingml/2006/main">
            <a:off x="800100" y="4438650"/>
            <a:ext cx="10572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000" b="0">
                <a:solidFill>
                  <a:srgbClr val="16324F"/>
                </a:solidFill>
                <a:latin typeface="Inter"/>
                <a:ea typeface="Inter"/>
                <a:cs typeface="Inter"/>
              </a:defRPr>
            </a:defPPr>
            <a:lvl1pPr>
              <a:defRPr sz="3000" b="0">
                <a:solidFill>
                  <a:srgbClr val="16324F"/>
                </a:solidFill>
                <a:latin typeface="Inter"/>
                <a:ea typeface="Inter"/>
                <a:cs typeface="Inter"/>
              </a:defRPr>
            </a:lvl1pPr>
            <a:lvl2pPr>
              <a:defRPr sz="3000" b="0">
                <a:solidFill>
                  <a:srgbClr val="16324F"/>
                </a:solidFill>
                <a:latin typeface="Inter"/>
                <a:ea typeface="Inter"/>
                <a:cs typeface="Inter"/>
              </a:defRPr>
            </a:lvl2pPr>
            <a:lvl3pPr>
              <a:defRPr sz="3000" b="0">
                <a:solidFill>
                  <a:srgbClr val="16324F"/>
                </a:solidFill>
                <a:latin typeface="Inter"/>
                <a:ea typeface="Inter"/>
                <a:cs typeface="Inter"/>
              </a:defRPr>
            </a:lvl3pPr>
            <a:lvl4pPr>
              <a:defRPr sz="3000" b="0">
                <a:solidFill>
                  <a:srgbClr val="16324F"/>
                </a:solidFill>
                <a:latin typeface="Inter"/>
                <a:ea typeface="Inter"/>
                <a:cs typeface="Inter"/>
              </a:defRPr>
            </a:lvl4pPr>
            <a:lvl5pPr>
              <a:defRPr sz="3000" b="0">
                <a:solidFill>
                  <a:srgbClr val="16324F"/>
                </a:solidFill>
                <a:latin typeface="Inter"/>
                <a:ea typeface="Inter"/>
                <a:cs typeface="Inter"/>
              </a:defRPr>
            </a:lvl5pPr>
            <a:lvl6pPr>
              <a:defRPr sz="3000" b="0">
                <a:solidFill>
                  <a:srgbClr val="16324F"/>
                </a:solidFill>
                <a:latin typeface="Inter"/>
                <a:ea typeface="Inter"/>
                <a:cs typeface="Inter"/>
              </a:defRPr>
            </a:lvl6pPr>
            <a:lvl7pPr>
              <a:defRPr sz="3000" b="0">
                <a:solidFill>
                  <a:srgbClr val="16324F"/>
                </a:solidFill>
                <a:latin typeface="Inter"/>
                <a:ea typeface="Inter"/>
                <a:cs typeface="Inter"/>
              </a:defRPr>
            </a:lvl7pPr>
            <a:lvl8pPr>
              <a:defRPr sz="3000" b="0">
                <a:solidFill>
                  <a:srgbClr val="16324F"/>
                </a:solidFill>
                <a:latin typeface="Inter"/>
                <a:ea typeface="Inter"/>
                <a:cs typeface="Inter"/>
              </a:defRPr>
            </a:lvl8pPr>
            <a:lvl9pPr>
              <a:defRPr sz="3000" b="0">
                <a:solidFill>
                  <a:srgbClr val="16324F"/>
                </a:solidFill>
                <a:latin typeface="Inter"/>
                <a:ea typeface="Inter"/>
                <a:cs typeface="Inter"/>
              </a:defRPr>
            </a:lvl9pPr>
          </a:lstStyle>
          <a:p xmlns:a="http://schemas.openxmlformats.org/drawingml/2006/main">
            <a:pPr>
              <a:defRPr sz="3000" b="0">
                <a:solidFill>
                  <a:srgbClr val="16324F"/>
                </a:solidFill>
                <a:latin typeface="Inter"/>
                <a:ea typeface="Inter"/>
                <a:cs typeface="Inter"/>
              </a:defRPr>
            </a:pPr>
            <a:r>
              <a:rPr sz="3000" b="0">
                <a:solidFill>
                  <a:srgbClr val="16324F"/>
                </a:solidFill>
                <a:latin typeface="Inter"/>
                <a:ea typeface="Inter"/>
                <a:cs typeface="Inter"/>
              </a:rPr>
              <a:t>Ví dụ giả định: 2 tỷ đồng × phí nền tảng 0,25%.</a:t>
            </a:r>
          </a:p>
        </p:txBody>
      </p:sp>
      <p:sp>
        <p:nvSpPr>
          <p:cNvPr id="4" name="assumption">
            <a:extLst xmlns:a="http://schemas.openxmlformats.org/drawingml/2006/main">
              <a:ext uri="{FF2B5EF4-FFF2-40B4-BE49-F238E27FC236}">
                <a16:creationId xmlns:a16="http://schemas.microsoft.com/office/drawing/2014/main" id="{BA5136D7-93B3-4631-BE0A-F295B0B0FDA3}"/>
              </a:ext>
            </a:extLst>
          </p:cNvPr>
          <p:cNvSpPr>
            <a:spLocks xmlns:a="http://schemas.openxmlformats.org/drawingml/2006/main" noGrp="1"/>
          </p:cNvSpPr>
          <p:nvPr/>
        </p:nvSpPr>
        <p:spPr>
          <a:xfrm xmlns:a="http://schemas.openxmlformats.org/drawingml/2006/main">
            <a:off x="800100" y="5905500"/>
            <a:ext cx="1000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000" b="0">
                <a:solidFill>
                  <a:srgbClr val="156F63"/>
                </a:solidFill>
                <a:latin typeface="Inter"/>
                <a:ea typeface="Inter"/>
                <a:cs typeface="Inter"/>
              </a:defRPr>
            </a:defPPr>
            <a:lvl1pPr>
              <a:defRPr sz="3000" b="0">
                <a:solidFill>
                  <a:srgbClr val="156F63"/>
                </a:solidFill>
                <a:latin typeface="Inter"/>
                <a:ea typeface="Inter"/>
                <a:cs typeface="Inter"/>
              </a:defRPr>
            </a:lvl1pPr>
            <a:lvl2pPr>
              <a:defRPr sz="3000" b="0">
                <a:solidFill>
                  <a:srgbClr val="156F63"/>
                </a:solidFill>
                <a:latin typeface="Inter"/>
                <a:ea typeface="Inter"/>
                <a:cs typeface="Inter"/>
              </a:defRPr>
            </a:lvl2pPr>
            <a:lvl3pPr>
              <a:defRPr sz="3000" b="0">
                <a:solidFill>
                  <a:srgbClr val="156F63"/>
                </a:solidFill>
                <a:latin typeface="Inter"/>
                <a:ea typeface="Inter"/>
                <a:cs typeface="Inter"/>
              </a:defRPr>
            </a:lvl3pPr>
            <a:lvl4pPr>
              <a:defRPr sz="3000" b="0">
                <a:solidFill>
                  <a:srgbClr val="156F63"/>
                </a:solidFill>
                <a:latin typeface="Inter"/>
                <a:ea typeface="Inter"/>
                <a:cs typeface="Inter"/>
              </a:defRPr>
            </a:lvl4pPr>
            <a:lvl5pPr>
              <a:defRPr sz="3000" b="0">
                <a:solidFill>
                  <a:srgbClr val="156F63"/>
                </a:solidFill>
                <a:latin typeface="Inter"/>
                <a:ea typeface="Inter"/>
                <a:cs typeface="Inter"/>
              </a:defRPr>
            </a:lvl5pPr>
            <a:lvl6pPr>
              <a:defRPr sz="3000" b="0">
                <a:solidFill>
                  <a:srgbClr val="156F63"/>
                </a:solidFill>
                <a:latin typeface="Inter"/>
                <a:ea typeface="Inter"/>
                <a:cs typeface="Inter"/>
              </a:defRPr>
            </a:lvl6pPr>
            <a:lvl7pPr>
              <a:defRPr sz="3000" b="0">
                <a:solidFill>
                  <a:srgbClr val="156F63"/>
                </a:solidFill>
                <a:latin typeface="Inter"/>
                <a:ea typeface="Inter"/>
                <a:cs typeface="Inter"/>
              </a:defRPr>
            </a:lvl7pPr>
            <a:lvl8pPr>
              <a:defRPr sz="3000" b="0">
                <a:solidFill>
                  <a:srgbClr val="156F63"/>
                </a:solidFill>
                <a:latin typeface="Inter"/>
                <a:ea typeface="Inter"/>
                <a:cs typeface="Inter"/>
              </a:defRPr>
            </a:lvl8pPr>
            <a:lvl9pPr>
              <a:defRPr sz="3000" b="0">
                <a:solidFill>
                  <a:srgbClr val="156F63"/>
                </a:solidFill>
                <a:latin typeface="Inter"/>
                <a:ea typeface="Inter"/>
                <a:cs typeface="Inter"/>
              </a:defRPr>
            </a:lvl9pPr>
          </a:lstStyle>
          <a:p xmlns:a="http://schemas.openxmlformats.org/drawingml/2006/main">
            <a:pPr>
              <a:defRPr sz="3000" b="0">
                <a:solidFill>
                  <a:srgbClr val="156F63"/>
                </a:solidFill>
                <a:latin typeface="Inter"/>
                <a:ea typeface="Inter"/>
                <a:cs typeface="Inter"/>
              </a:defRPr>
            </a:pPr>
            <a:r>
              <a:rPr sz="3000" b="0">
                <a:solidFill>
                  <a:srgbClr val="156F63"/>
                </a:solidFill>
                <a:latin typeface="Inter"/>
                <a:ea typeface="Inter"/>
                <a:cs typeface="Inter"/>
              </a:rPr>
              <a:t>Giả định cần thử nghiệm</a:t>
            </a:r>
          </a:p>
        </p:txBody>
      </p:sp>
    </p:spTree>
    <p:extLst>
      <p:ext uri="{BB962C8B-B14F-4D97-AF65-F5344CB8AC3E}">
        <p14:creationId xmlns:p14="http://schemas.microsoft.com/office/powerpoint/2010/main" val="1097626335"/>
      </p:ext>
    </p:extLst>
  </p:cSld>
</p:sld>
</file>

<file path=ppt/slides/slide7.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2E93BC3-7E52-4143-91E3-CB4558223989}"/>
              </a:ext>
            </a:extLst>
          </p:cNvPr>
          <p:cNvSpPr>
            <a:spLocks xmlns:a="http://schemas.openxmlformats.org/drawingml/2006/main" noGrp="1"/>
          </p:cNvSpPr>
          <p:nvPr/>
        </p:nvSpPr>
        <p:spPr>
          <a:xfrm xmlns:a="http://schemas.openxmlformats.org/drawingml/2006/main">
            <a:off x="762000" y="55245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300" b="1">
                <a:solidFill>
                  <a:srgbClr val="16324F"/>
                </a:solidFill>
                <a:latin typeface="Inter"/>
                <a:ea typeface="Inter"/>
                <a:cs typeface="Inter"/>
              </a:defRPr>
            </a:defPPr>
            <a:lvl1pPr>
              <a:defRPr sz="3300" b="1">
                <a:solidFill>
                  <a:srgbClr val="16324F"/>
                </a:solidFill>
                <a:latin typeface="Inter"/>
                <a:ea typeface="Inter"/>
                <a:cs typeface="Inter"/>
              </a:defRPr>
            </a:lvl1pPr>
            <a:lvl2pPr>
              <a:defRPr sz="3300" b="1">
                <a:solidFill>
                  <a:srgbClr val="16324F"/>
                </a:solidFill>
                <a:latin typeface="Inter"/>
                <a:ea typeface="Inter"/>
                <a:cs typeface="Inter"/>
              </a:defRPr>
            </a:lvl2pPr>
            <a:lvl3pPr>
              <a:defRPr sz="3300" b="1">
                <a:solidFill>
                  <a:srgbClr val="16324F"/>
                </a:solidFill>
                <a:latin typeface="Inter"/>
                <a:ea typeface="Inter"/>
                <a:cs typeface="Inter"/>
              </a:defRPr>
            </a:lvl3pPr>
            <a:lvl4pPr>
              <a:defRPr sz="3300" b="1">
                <a:solidFill>
                  <a:srgbClr val="16324F"/>
                </a:solidFill>
                <a:latin typeface="Inter"/>
                <a:ea typeface="Inter"/>
                <a:cs typeface="Inter"/>
              </a:defRPr>
            </a:lvl4pPr>
            <a:lvl5pPr>
              <a:defRPr sz="3300" b="1">
                <a:solidFill>
                  <a:srgbClr val="16324F"/>
                </a:solidFill>
                <a:latin typeface="Inter"/>
                <a:ea typeface="Inter"/>
                <a:cs typeface="Inter"/>
              </a:defRPr>
            </a:lvl5pPr>
            <a:lvl6pPr>
              <a:defRPr sz="3300" b="1">
                <a:solidFill>
                  <a:srgbClr val="16324F"/>
                </a:solidFill>
                <a:latin typeface="Inter"/>
                <a:ea typeface="Inter"/>
                <a:cs typeface="Inter"/>
              </a:defRPr>
            </a:lvl6pPr>
            <a:lvl7pPr>
              <a:defRPr sz="3300" b="1">
                <a:solidFill>
                  <a:srgbClr val="16324F"/>
                </a:solidFill>
                <a:latin typeface="Inter"/>
                <a:ea typeface="Inter"/>
                <a:cs typeface="Inter"/>
              </a:defRPr>
            </a:lvl7pPr>
            <a:lvl8pPr>
              <a:defRPr sz="3300" b="1">
                <a:solidFill>
                  <a:srgbClr val="16324F"/>
                </a:solidFill>
                <a:latin typeface="Inter"/>
                <a:ea typeface="Inter"/>
                <a:cs typeface="Inter"/>
              </a:defRPr>
            </a:lvl8pPr>
            <a:lvl9pPr>
              <a:defRPr sz="3300" b="1">
                <a:solidFill>
                  <a:srgbClr val="16324F"/>
                </a:solidFill>
                <a:latin typeface="Inter"/>
                <a:ea typeface="Inter"/>
                <a:cs typeface="Inter"/>
              </a:defRPr>
            </a:lvl9pPr>
          </a:lstStyle>
          <a:p xmlns:a="http://schemas.openxmlformats.org/drawingml/2006/main">
            <a:pPr>
              <a:defRPr sz="3300" b="1">
                <a:solidFill>
                  <a:srgbClr val="16324F"/>
                </a:solidFill>
                <a:latin typeface="Inter"/>
                <a:ea typeface="Inter"/>
                <a:cs typeface="Inter"/>
              </a:defRPr>
            </a:pPr>
            <a:r>
              <a:rPr sz="3300" b="1">
                <a:solidFill>
                  <a:srgbClr val="16324F"/>
                </a:solidFill>
                <a:latin typeface="Inter"/>
                <a:ea typeface="Inter"/>
                <a:cs typeface="Inter"/>
              </a:rPr>
              <a:t>Kiểm chứng nhu cầu</a:t>
            </a:r>
          </a:p>
        </p:txBody>
      </p:sp>
      <p:sp>
        <p:nvSpPr>
          <p:cNvPr id="2" name="main-message">
            <a:extLst xmlns:a="http://schemas.openxmlformats.org/drawingml/2006/main">
              <a:ext uri="{FF2B5EF4-FFF2-40B4-BE49-F238E27FC236}">
                <a16:creationId xmlns:a16="http://schemas.microsoft.com/office/drawing/2014/main" id="{68F6D1CC-C8D7-4D53-9FF7-296D68D57E55}"/>
              </a:ext>
            </a:extLst>
          </p:cNvPr>
          <p:cNvSpPr>
            <a:spLocks xmlns:a="http://schemas.openxmlformats.org/drawingml/2006/main" noGrp="1"/>
          </p:cNvSpPr>
          <p:nvPr/>
        </p:nvSpPr>
        <p:spPr>
          <a:xfrm xmlns:a="http://schemas.openxmlformats.org/drawingml/2006/main">
            <a:off x="762000" y="1762125"/>
            <a:ext cx="106680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4950" b="1">
                <a:solidFill>
                  <a:srgbClr val="16324F"/>
                </a:solidFill>
                <a:latin typeface="Inter"/>
                <a:ea typeface="Inter"/>
                <a:cs typeface="Inter"/>
              </a:defRPr>
            </a:defPPr>
            <a:lvl1pPr>
              <a:defRPr sz="4950" b="1">
                <a:solidFill>
                  <a:srgbClr val="16324F"/>
                </a:solidFill>
                <a:latin typeface="Inter"/>
                <a:ea typeface="Inter"/>
                <a:cs typeface="Inter"/>
              </a:defRPr>
            </a:lvl1pPr>
            <a:lvl2pPr>
              <a:defRPr sz="4950" b="1">
                <a:solidFill>
                  <a:srgbClr val="16324F"/>
                </a:solidFill>
                <a:latin typeface="Inter"/>
                <a:ea typeface="Inter"/>
                <a:cs typeface="Inter"/>
              </a:defRPr>
            </a:lvl2pPr>
            <a:lvl3pPr>
              <a:defRPr sz="4950" b="1">
                <a:solidFill>
                  <a:srgbClr val="16324F"/>
                </a:solidFill>
                <a:latin typeface="Inter"/>
                <a:ea typeface="Inter"/>
                <a:cs typeface="Inter"/>
              </a:defRPr>
            </a:lvl3pPr>
            <a:lvl4pPr>
              <a:defRPr sz="4950" b="1">
                <a:solidFill>
                  <a:srgbClr val="16324F"/>
                </a:solidFill>
                <a:latin typeface="Inter"/>
                <a:ea typeface="Inter"/>
                <a:cs typeface="Inter"/>
              </a:defRPr>
            </a:lvl4pPr>
            <a:lvl5pPr>
              <a:defRPr sz="4950" b="1">
                <a:solidFill>
                  <a:srgbClr val="16324F"/>
                </a:solidFill>
                <a:latin typeface="Inter"/>
                <a:ea typeface="Inter"/>
                <a:cs typeface="Inter"/>
              </a:defRPr>
            </a:lvl5pPr>
            <a:lvl6pPr>
              <a:defRPr sz="4950" b="1">
                <a:solidFill>
                  <a:srgbClr val="16324F"/>
                </a:solidFill>
                <a:latin typeface="Inter"/>
                <a:ea typeface="Inter"/>
                <a:cs typeface="Inter"/>
              </a:defRPr>
            </a:lvl6pPr>
            <a:lvl7pPr>
              <a:defRPr sz="4950" b="1">
                <a:solidFill>
                  <a:srgbClr val="16324F"/>
                </a:solidFill>
                <a:latin typeface="Inter"/>
                <a:ea typeface="Inter"/>
                <a:cs typeface="Inter"/>
              </a:defRPr>
            </a:lvl7pPr>
            <a:lvl8pPr>
              <a:defRPr sz="4950" b="1">
                <a:solidFill>
                  <a:srgbClr val="16324F"/>
                </a:solidFill>
                <a:latin typeface="Inter"/>
                <a:ea typeface="Inter"/>
                <a:cs typeface="Inter"/>
              </a:defRPr>
            </a:lvl8pPr>
            <a:lvl9pPr>
              <a:defRPr sz="4950" b="1">
                <a:solidFill>
                  <a:srgbClr val="16324F"/>
                </a:solidFill>
                <a:latin typeface="Inter"/>
                <a:ea typeface="Inter"/>
                <a:cs typeface="Inter"/>
              </a:defRPr>
            </a:lvl9pPr>
          </a:lstStyle>
          <a:p xmlns:a="http://schemas.openxmlformats.org/drawingml/2006/main">
            <a:pPr>
              <a:defRPr sz="4950" b="1">
                <a:solidFill>
                  <a:srgbClr val="16324F"/>
                </a:solidFill>
                <a:latin typeface="Inter"/>
                <a:ea typeface="Inter"/>
                <a:cs typeface="Inter"/>
              </a:defRPr>
            </a:pPr>
            <a:r>
              <a:rPr sz="4950" b="1">
                <a:solidFill>
                  <a:srgbClr val="16324F"/>
                </a:solidFill>
                <a:latin typeface="Inter"/>
                <a:ea typeface="Inter"/>
                <a:cs typeface="Inter"/>
              </a:rPr>
              <a:t>10 chủ tài sản</a:t>
            </a:r>
          </a:p>
          <a:p xmlns:a="http://schemas.openxmlformats.org/drawingml/2006/main">
            <a:pPr>
              <a:defRPr sz="4950" b="1">
                <a:solidFill>
                  <a:srgbClr val="16324F"/>
                </a:solidFill>
                <a:latin typeface="Inter"/>
                <a:ea typeface="Inter"/>
                <a:cs typeface="Inter"/>
              </a:defRPr>
            </a:pPr>
            <a:r>
              <a:rPr sz="4950" b="1">
                <a:solidFill>
                  <a:srgbClr val="16324F"/>
                </a:solidFill>
                <a:latin typeface="Inter"/>
                <a:ea typeface="Inter"/>
                <a:cs typeface="Inter"/>
              </a:rPr>
              <a:t>cho pilot đầu tiên</a:t>
            </a:r>
          </a:p>
        </p:txBody>
      </p:sp>
      <p:sp>
        <p:nvSpPr>
          <p:cNvPr id="3" name="support">
            <a:extLst xmlns:a="http://schemas.openxmlformats.org/drawingml/2006/main">
              <a:ext uri="{FF2B5EF4-FFF2-40B4-BE49-F238E27FC236}">
                <a16:creationId xmlns:a16="http://schemas.microsoft.com/office/drawing/2014/main" id="{94BF5821-90C8-4772-A7E1-A5C238263BDC}"/>
              </a:ext>
            </a:extLst>
          </p:cNvPr>
          <p:cNvSpPr>
            <a:spLocks xmlns:a="http://schemas.openxmlformats.org/drawingml/2006/main" noGrp="1"/>
          </p:cNvSpPr>
          <p:nvPr/>
        </p:nvSpPr>
        <p:spPr>
          <a:xfrm xmlns:a="http://schemas.openxmlformats.org/drawingml/2006/main">
            <a:off x="800100" y="4438650"/>
            <a:ext cx="10572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000" b="0">
                <a:solidFill>
                  <a:srgbClr val="16324F"/>
                </a:solidFill>
                <a:latin typeface="Inter"/>
                <a:ea typeface="Inter"/>
                <a:cs typeface="Inter"/>
              </a:defRPr>
            </a:defPPr>
            <a:lvl1pPr>
              <a:defRPr sz="3000" b="0">
                <a:solidFill>
                  <a:srgbClr val="16324F"/>
                </a:solidFill>
                <a:latin typeface="Inter"/>
                <a:ea typeface="Inter"/>
                <a:cs typeface="Inter"/>
              </a:defRPr>
            </a:lvl1pPr>
            <a:lvl2pPr>
              <a:defRPr sz="3000" b="0">
                <a:solidFill>
                  <a:srgbClr val="16324F"/>
                </a:solidFill>
                <a:latin typeface="Inter"/>
                <a:ea typeface="Inter"/>
                <a:cs typeface="Inter"/>
              </a:defRPr>
            </a:lvl2pPr>
            <a:lvl3pPr>
              <a:defRPr sz="3000" b="0">
                <a:solidFill>
                  <a:srgbClr val="16324F"/>
                </a:solidFill>
                <a:latin typeface="Inter"/>
                <a:ea typeface="Inter"/>
                <a:cs typeface="Inter"/>
              </a:defRPr>
            </a:lvl3pPr>
            <a:lvl4pPr>
              <a:defRPr sz="3000" b="0">
                <a:solidFill>
                  <a:srgbClr val="16324F"/>
                </a:solidFill>
                <a:latin typeface="Inter"/>
                <a:ea typeface="Inter"/>
                <a:cs typeface="Inter"/>
              </a:defRPr>
            </a:lvl4pPr>
            <a:lvl5pPr>
              <a:defRPr sz="3000" b="0">
                <a:solidFill>
                  <a:srgbClr val="16324F"/>
                </a:solidFill>
                <a:latin typeface="Inter"/>
                <a:ea typeface="Inter"/>
                <a:cs typeface="Inter"/>
              </a:defRPr>
            </a:lvl5pPr>
            <a:lvl6pPr>
              <a:defRPr sz="3000" b="0">
                <a:solidFill>
                  <a:srgbClr val="16324F"/>
                </a:solidFill>
                <a:latin typeface="Inter"/>
                <a:ea typeface="Inter"/>
                <a:cs typeface="Inter"/>
              </a:defRPr>
            </a:lvl6pPr>
            <a:lvl7pPr>
              <a:defRPr sz="3000" b="0">
                <a:solidFill>
                  <a:srgbClr val="16324F"/>
                </a:solidFill>
                <a:latin typeface="Inter"/>
                <a:ea typeface="Inter"/>
                <a:cs typeface="Inter"/>
              </a:defRPr>
            </a:lvl7pPr>
            <a:lvl8pPr>
              <a:defRPr sz="3000" b="0">
                <a:solidFill>
                  <a:srgbClr val="16324F"/>
                </a:solidFill>
                <a:latin typeface="Inter"/>
                <a:ea typeface="Inter"/>
                <a:cs typeface="Inter"/>
              </a:defRPr>
            </a:lvl8pPr>
            <a:lvl9pPr>
              <a:defRPr sz="3000" b="0">
                <a:solidFill>
                  <a:srgbClr val="16324F"/>
                </a:solidFill>
                <a:latin typeface="Inter"/>
                <a:ea typeface="Inter"/>
                <a:cs typeface="Inter"/>
              </a:defRPr>
            </a:lvl9pPr>
          </a:lstStyle>
          <a:p xmlns:a="http://schemas.openxmlformats.org/drawingml/2006/main">
            <a:pPr>
              <a:defRPr sz="3000" b="0">
                <a:solidFill>
                  <a:srgbClr val="16324F"/>
                </a:solidFill>
                <a:latin typeface="Inter"/>
                <a:ea typeface="Inter"/>
                <a:cs typeface="Inter"/>
              </a:defRPr>
            </a:pPr>
            <a:r>
              <a:rPr sz="3000" b="0">
                <a:solidFill>
                  <a:srgbClr val="16324F"/>
                </a:solidFill>
                <a:latin typeface="Inter"/>
                <a:ea typeface="Inter"/>
                <a:cs typeface="Inter"/>
              </a:rPr>
              <a:t>Mục tiêu: 50 người mua và 3 giao dịch hoàn tất.</a:t>
            </a:r>
          </a:p>
        </p:txBody>
      </p:sp>
      <p:sp>
        <p:nvSpPr>
          <p:cNvPr id="4" name="assumption">
            <a:extLst xmlns:a="http://schemas.openxmlformats.org/drawingml/2006/main">
              <a:ext uri="{FF2B5EF4-FFF2-40B4-BE49-F238E27FC236}">
                <a16:creationId xmlns:a16="http://schemas.microsoft.com/office/drawing/2014/main" id="{F2B4AC7B-54FE-4E04-A783-E431163718A0}"/>
              </a:ext>
            </a:extLst>
          </p:cNvPr>
          <p:cNvSpPr>
            <a:spLocks xmlns:a="http://schemas.openxmlformats.org/drawingml/2006/main" noGrp="1"/>
          </p:cNvSpPr>
          <p:nvPr/>
        </p:nvSpPr>
        <p:spPr>
          <a:xfrm xmlns:a="http://schemas.openxmlformats.org/drawingml/2006/main">
            <a:off x="800100" y="5905500"/>
            <a:ext cx="1000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000" b="0">
                <a:solidFill>
                  <a:srgbClr val="156F63"/>
                </a:solidFill>
                <a:latin typeface="Inter"/>
                <a:ea typeface="Inter"/>
                <a:cs typeface="Inter"/>
              </a:defRPr>
            </a:defPPr>
            <a:lvl1pPr>
              <a:defRPr sz="3000" b="0">
                <a:solidFill>
                  <a:srgbClr val="156F63"/>
                </a:solidFill>
                <a:latin typeface="Inter"/>
                <a:ea typeface="Inter"/>
                <a:cs typeface="Inter"/>
              </a:defRPr>
            </a:lvl1pPr>
            <a:lvl2pPr>
              <a:defRPr sz="3000" b="0">
                <a:solidFill>
                  <a:srgbClr val="156F63"/>
                </a:solidFill>
                <a:latin typeface="Inter"/>
                <a:ea typeface="Inter"/>
                <a:cs typeface="Inter"/>
              </a:defRPr>
            </a:lvl2pPr>
            <a:lvl3pPr>
              <a:defRPr sz="3000" b="0">
                <a:solidFill>
                  <a:srgbClr val="156F63"/>
                </a:solidFill>
                <a:latin typeface="Inter"/>
                <a:ea typeface="Inter"/>
                <a:cs typeface="Inter"/>
              </a:defRPr>
            </a:lvl3pPr>
            <a:lvl4pPr>
              <a:defRPr sz="3000" b="0">
                <a:solidFill>
                  <a:srgbClr val="156F63"/>
                </a:solidFill>
                <a:latin typeface="Inter"/>
                <a:ea typeface="Inter"/>
                <a:cs typeface="Inter"/>
              </a:defRPr>
            </a:lvl4pPr>
            <a:lvl5pPr>
              <a:defRPr sz="3000" b="0">
                <a:solidFill>
                  <a:srgbClr val="156F63"/>
                </a:solidFill>
                <a:latin typeface="Inter"/>
                <a:ea typeface="Inter"/>
                <a:cs typeface="Inter"/>
              </a:defRPr>
            </a:lvl5pPr>
            <a:lvl6pPr>
              <a:defRPr sz="3000" b="0">
                <a:solidFill>
                  <a:srgbClr val="156F63"/>
                </a:solidFill>
                <a:latin typeface="Inter"/>
                <a:ea typeface="Inter"/>
                <a:cs typeface="Inter"/>
              </a:defRPr>
            </a:lvl6pPr>
            <a:lvl7pPr>
              <a:defRPr sz="3000" b="0">
                <a:solidFill>
                  <a:srgbClr val="156F63"/>
                </a:solidFill>
                <a:latin typeface="Inter"/>
                <a:ea typeface="Inter"/>
                <a:cs typeface="Inter"/>
              </a:defRPr>
            </a:lvl7pPr>
            <a:lvl8pPr>
              <a:defRPr sz="3000" b="0">
                <a:solidFill>
                  <a:srgbClr val="156F63"/>
                </a:solidFill>
                <a:latin typeface="Inter"/>
                <a:ea typeface="Inter"/>
                <a:cs typeface="Inter"/>
              </a:defRPr>
            </a:lvl8pPr>
            <a:lvl9pPr>
              <a:defRPr sz="3000" b="0">
                <a:solidFill>
                  <a:srgbClr val="156F63"/>
                </a:solidFill>
                <a:latin typeface="Inter"/>
                <a:ea typeface="Inter"/>
                <a:cs typeface="Inter"/>
              </a:defRPr>
            </a:lvl9pPr>
          </a:lstStyle>
          <a:p xmlns:a="http://schemas.openxmlformats.org/drawingml/2006/main">
            <a:pPr>
              <a:defRPr sz="3000" b="0">
                <a:solidFill>
                  <a:srgbClr val="156F63"/>
                </a:solidFill>
                <a:latin typeface="Inter"/>
                <a:ea typeface="Inter"/>
                <a:cs typeface="Inter"/>
              </a:defRPr>
            </a:pPr>
            <a:r>
              <a:rPr sz="3000" b="0">
                <a:solidFill>
                  <a:srgbClr val="156F63"/>
                </a:solidFill>
                <a:latin typeface="Inter"/>
                <a:ea typeface="Inter"/>
                <a:cs typeface="Inter"/>
              </a:rPr>
              <a:t>Mục tiêu pilot, chưa có traction</a:t>
            </a:r>
          </a:p>
        </p:txBody>
      </p:sp>
    </p:spTree>
    <p:extLst>
      <p:ext uri="{BB962C8B-B14F-4D97-AF65-F5344CB8AC3E}">
        <p14:creationId xmlns:p14="http://schemas.microsoft.com/office/powerpoint/2010/main" val="2054305402"/>
      </p:ext>
    </p:extLst>
  </p:cSld>
</p:sld>
</file>

<file path=ppt/slides/slide8.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9CD4801-C6AB-42F4-BB92-A7372978E66B}"/>
              </a:ext>
            </a:extLst>
          </p:cNvPr>
          <p:cNvSpPr>
            <a:spLocks xmlns:a="http://schemas.openxmlformats.org/drawingml/2006/main" noGrp="1"/>
          </p:cNvSpPr>
          <p:nvPr/>
        </p:nvSpPr>
        <p:spPr>
          <a:xfrm xmlns:a="http://schemas.openxmlformats.org/drawingml/2006/main">
            <a:off x="762000" y="55245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300" b="1">
                <a:solidFill>
                  <a:srgbClr val="16324F"/>
                </a:solidFill>
                <a:latin typeface="Inter"/>
                <a:ea typeface="Inter"/>
                <a:cs typeface="Inter"/>
              </a:defRPr>
            </a:defPPr>
            <a:lvl1pPr>
              <a:defRPr sz="3300" b="1">
                <a:solidFill>
                  <a:srgbClr val="16324F"/>
                </a:solidFill>
                <a:latin typeface="Inter"/>
                <a:ea typeface="Inter"/>
                <a:cs typeface="Inter"/>
              </a:defRPr>
            </a:lvl1pPr>
            <a:lvl2pPr>
              <a:defRPr sz="3300" b="1">
                <a:solidFill>
                  <a:srgbClr val="16324F"/>
                </a:solidFill>
                <a:latin typeface="Inter"/>
                <a:ea typeface="Inter"/>
                <a:cs typeface="Inter"/>
              </a:defRPr>
            </a:lvl2pPr>
            <a:lvl3pPr>
              <a:defRPr sz="3300" b="1">
                <a:solidFill>
                  <a:srgbClr val="16324F"/>
                </a:solidFill>
                <a:latin typeface="Inter"/>
                <a:ea typeface="Inter"/>
                <a:cs typeface="Inter"/>
              </a:defRPr>
            </a:lvl3pPr>
            <a:lvl4pPr>
              <a:defRPr sz="3300" b="1">
                <a:solidFill>
                  <a:srgbClr val="16324F"/>
                </a:solidFill>
                <a:latin typeface="Inter"/>
                <a:ea typeface="Inter"/>
                <a:cs typeface="Inter"/>
              </a:defRPr>
            </a:lvl4pPr>
            <a:lvl5pPr>
              <a:defRPr sz="3300" b="1">
                <a:solidFill>
                  <a:srgbClr val="16324F"/>
                </a:solidFill>
                <a:latin typeface="Inter"/>
                <a:ea typeface="Inter"/>
                <a:cs typeface="Inter"/>
              </a:defRPr>
            </a:lvl5pPr>
            <a:lvl6pPr>
              <a:defRPr sz="3300" b="1">
                <a:solidFill>
                  <a:srgbClr val="16324F"/>
                </a:solidFill>
                <a:latin typeface="Inter"/>
                <a:ea typeface="Inter"/>
                <a:cs typeface="Inter"/>
              </a:defRPr>
            </a:lvl6pPr>
            <a:lvl7pPr>
              <a:defRPr sz="3300" b="1">
                <a:solidFill>
                  <a:srgbClr val="16324F"/>
                </a:solidFill>
                <a:latin typeface="Inter"/>
                <a:ea typeface="Inter"/>
                <a:cs typeface="Inter"/>
              </a:defRPr>
            </a:lvl7pPr>
            <a:lvl8pPr>
              <a:defRPr sz="3300" b="1">
                <a:solidFill>
                  <a:srgbClr val="16324F"/>
                </a:solidFill>
                <a:latin typeface="Inter"/>
                <a:ea typeface="Inter"/>
                <a:cs typeface="Inter"/>
              </a:defRPr>
            </a:lvl8pPr>
            <a:lvl9pPr>
              <a:defRPr sz="3300" b="1">
                <a:solidFill>
                  <a:srgbClr val="16324F"/>
                </a:solidFill>
                <a:latin typeface="Inter"/>
                <a:ea typeface="Inter"/>
                <a:cs typeface="Inter"/>
              </a:defRPr>
            </a:lvl9pPr>
          </a:lstStyle>
          <a:p xmlns:a="http://schemas.openxmlformats.org/drawingml/2006/main">
            <a:pPr>
              <a:defRPr sz="3300" b="1">
                <a:solidFill>
                  <a:srgbClr val="16324F"/>
                </a:solidFill>
                <a:latin typeface="Inter"/>
                <a:ea typeface="Inter"/>
                <a:cs typeface="Inter"/>
              </a:defRPr>
            </a:pPr>
            <a:r>
              <a:rPr sz="3300" b="1">
                <a:solidFill>
                  <a:srgbClr val="16324F"/>
                </a:solidFill>
                <a:latin typeface="Inter"/>
                <a:ea typeface="Inter"/>
                <a:cs typeface="Inter"/>
              </a:rPr>
              <a:t>Lộ trình sáu tháng</a:t>
            </a:r>
          </a:p>
        </p:txBody>
      </p:sp>
      <p:sp>
        <p:nvSpPr>
          <p:cNvPr id="2" name="main-message">
            <a:extLst xmlns:a="http://schemas.openxmlformats.org/drawingml/2006/main">
              <a:ext uri="{FF2B5EF4-FFF2-40B4-BE49-F238E27FC236}">
                <a16:creationId xmlns:a16="http://schemas.microsoft.com/office/drawing/2014/main" id="{D6F7E182-8DA4-47A3-A866-B7B4F7B1A0E4}"/>
              </a:ext>
            </a:extLst>
          </p:cNvPr>
          <p:cNvSpPr>
            <a:spLocks xmlns:a="http://schemas.openxmlformats.org/drawingml/2006/main" noGrp="1"/>
          </p:cNvSpPr>
          <p:nvPr/>
        </p:nvSpPr>
        <p:spPr>
          <a:xfrm xmlns:a="http://schemas.openxmlformats.org/drawingml/2006/main">
            <a:off x="762000" y="1762125"/>
            <a:ext cx="106680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4950" b="1">
                <a:solidFill>
                  <a:srgbClr val="16324F"/>
                </a:solidFill>
                <a:latin typeface="Inter"/>
                <a:ea typeface="Inter"/>
                <a:cs typeface="Inter"/>
              </a:defRPr>
            </a:defPPr>
            <a:lvl1pPr>
              <a:defRPr sz="4950" b="1">
                <a:solidFill>
                  <a:srgbClr val="16324F"/>
                </a:solidFill>
                <a:latin typeface="Inter"/>
                <a:ea typeface="Inter"/>
                <a:cs typeface="Inter"/>
              </a:defRPr>
            </a:lvl1pPr>
            <a:lvl2pPr>
              <a:defRPr sz="4950" b="1">
                <a:solidFill>
                  <a:srgbClr val="16324F"/>
                </a:solidFill>
                <a:latin typeface="Inter"/>
                <a:ea typeface="Inter"/>
                <a:cs typeface="Inter"/>
              </a:defRPr>
            </a:lvl2pPr>
            <a:lvl3pPr>
              <a:defRPr sz="4950" b="1">
                <a:solidFill>
                  <a:srgbClr val="16324F"/>
                </a:solidFill>
                <a:latin typeface="Inter"/>
                <a:ea typeface="Inter"/>
                <a:cs typeface="Inter"/>
              </a:defRPr>
            </a:lvl3pPr>
            <a:lvl4pPr>
              <a:defRPr sz="4950" b="1">
                <a:solidFill>
                  <a:srgbClr val="16324F"/>
                </a:solidFill>
                <a:latin typeface="Inter"/>
                <a:ea typeface="Inter"/>
                <a:cs typeface="Inter"/>
              </a:defRPr>
            </a:lvl4pPr>
            <a:lvl5pPr>
              <a:defRPr sz="4950" b="1">
                <a:solidFill>
                  <a:srgbClr val="16324F"/>
                </a:solidFill>
                <a:latin typeface="Inter"/>
                <a:ea typeface="Inter"/>
                <a:cs typeface="Inter"/>
              </a:defRPr>
            </a:lvl5pPr>
            <a:lvl6pPr>
              <a:defRPr sz="4950" b="1">
                <a:solidFill>
                  <a:srgbClr val="16324F"/>
                </a:solidFill>
                <a:latin typeface="Inter"/>
                <a:ea typeface="Inter"/>
                <a:cs typeface="Inter"/>
              </a:defRPr>
            </a:lvl6pPr>
            <a:lvl7pPr>
              <a:defRPr sz="4950" b="1">
                <a:solidFill>
                  <a:srgbClr val="16324F"/>
                </a:solidFill>
                <a:latin typeface="Inter"/>
                <a:ea typeface="Inter"/>
                <a:cs typeface="Inter"/>
              </a:defRPr>
            </a:lvl7pPr>
            <a:lvl8pPr>
              <a:defRPr sz="4950" b="1">
                <a:solidFill>
                  <a:srgbClr val="16324F"/>
                </a:solidFill>
                <a:latin typeface="Inter"/>
                <a:ea typeface="Inter"/>
                <a:cs typeface="Inter"/>
              </a:defRPr>
            </a:lvl8pPr>
            <a:lvl9pPr>
              <a:defRPr sz="4950" b="1">
                <a:solidFill>
                  <a:srgbClr val="16324F"/>
                </a:solidFill>
                <a:latin typeface="Inter"/>
                <a:ea typeface="Inter"/>
                <a:cs typeface="Inter"/>
              </a:defRPr>
            </a:lvl9pPr>
          </a:lstStyle>
          <a:p xmlns:a="http://schemas.openxmlformats.org/drawingml/2006/main">
            <a:pPr>
              <a:defRPr sz="4950" b="1">
                <a:solidFill>
                  <a:srgbClr val="16324F"/>
                </a:solidFill>
                <a:latin typeface="Inter"/>
                <a:ea typeface="Inter"/>
                <a:cs typeface="Inter"/>
              </a:defRPr>
            </a:pPr>
            <a:r>
              <a:rPr sz="4950" b="1">
                <a:solidFill>
                  <a:srgbClr val="16324F"/>
                </a:solidFill>
                <a:latin typeface="Inter"/>
                <a:ea typeface="Inter"/>
                <a:cs typeface="Inter"/>
              </a:rPr>
              <a:t>MVP trước</a:t>
            </a:r>
          </a:p>
          <a:p xmlns:a="http://schemas.openxmlformats.org/drawingml/2006/main">
            <a:pPr>
              <a:defRPr sz="4950" b="1">
                <a:solidFill>
                  <a:srgbClr val="16324F"/>
                </a:solidFill>
                <a:latin typeface="Inter"/>
                <a:ea typeface="Inter"/>
                <a:cs typeface="Inter"/>
              </a:defRPr>
            </a:pPr>
            <a:r>
              <a:rPr sz="4950" b="1">
                <a:solidFill>
                  <a:srgbClr val="16324F"/>
                </a:solidFill>
                <a:latin typeface="Inter"/>
                <a:ea typeface="Inter"/>
                <a:cs typeface="Inter"/>
              </a:rPr>
              <a:t>pilot sau</a:t>
            </a:r>
          </a:p>
        </p:txBody>
      </p:sp>
      <p:sp>
        <p:nvSpPr>
          <p:cNvPr id="3" name="support">
            <a:extLst xmlns:a="http://schemas.openxmlformats.org/drawingml/2006/main">
              <a:ext uri="{FF2B5EF4-FFF2-40B4-BE49-F238E27FC236}">
                <a16:creationId xmlns:a16="http://schemas.microsoft.com/office/drawing/2014/main" id="{AA59762B-2FB6-4BC6-AD8B-7FAFAC02F0EF}"/>
              </a:ext>
            </a:extLst>
          </p:cNvPr>
          <p:cNvSpPr>
            <a:spLocks xmlns:a="http://schemas.openxmlformats.org/drawingml/2006/main" noGrp="1"/>
          </p:cNvSpPr>
          <p:nvPr/>
        </p:nvSpPr>
        <p:spPr>
          <a:xfrm xmlns:a="http://schemas.openxmlformats.org/drawingml/2006/main">
            <a:off x="800100" y="4438650"/>
            <a:ext cx="10572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000" b="0">
                <a:solidFill>
                  <a:srgbClr val="16324F"/>
                </a:solidFill>
                <a:latin typeface="Inter"/>
                <a:ea typeface="Inter"/>
                <a:cs typeface="Inter"/>
              </a:defRPr>
            </a:defPPr>
            <a:lvl1pPr>
              <a:defRPr sz="3000" b="0">
                <a:solidFill>
                  <a:srgbClr val="16324F"/>
                </a:solidFill>
                <a:latin typeface="Inter"/>
                <a:ea typeface="Inter"/>
                <a:cs typeface="Inter"/>
              </a:defRPr>
            </a:lvl1pPr>
            <a:lvl2pPr>
              <a:defRPr sz="3000" b="0">
                <a:solidFill>
                  <a:srgbClr val="16324F"/>
                </a:solidFill>
                <a:latin typeface="Inter"/>
                <a:ea typeface="Inter"/>
                <a:cs typeface="Inter"/>
              </a:defRPr>
            </a:lvl2pPr>
            <a:lvl3pPr>
              <a:defRPr sz="3000" b="0">
                <a:solidFill>
                  <a:srgbClr val="16324F"/>
                </a:solidFill>
                <a:latin typeface="Inter"/>
                <a:ea typeface="Inter"/>
                <a:cs typeface="Inter"/>
              </a:defRPr>
            </a:lvl3pPr>
            <a:lvl4pPr>
              <a:defRPr sz="3000" b="0">
                <a:solidFill>
                  <a:srgbClr val="16324F"/>
                </a:solidFill>
                <a:latin typeface="Inter"/>
                <a:ea typeface="Inter"/>
                <a:cs typeface="Inter"/>
              </a:defRPr>
            </a:lvl4pPr>
            <a:lvl5pPr>
              <a:defRPr sz="3000" b="0">
                <a:solidFill>
                  <a:srgbClr val="16324F"/>
                </a:solidFill>
                <a:latin typeface="Inter"/>
                <a:ea typeface="Inter"/>
                <a:cs typeface="Inter"/>
              </a:defRPr>
            </a:lvl5pPr>
            <a:lvl6pPr>
              <a:defRPr sz="3000" b="0">
                <a:solidFill>
                  <a:srgbClr val="16324F"/>
                </a:solidFill>
                <a:latin typeface="Inter"/>
                <a:ea typeface="Inter"/>
                <a:cs typeface="Inter"/>
              </a:defRPr>
            </a:lvl6pPr>
            <a:lvl7pPr>
              <a:defRPr sz="3000" b="0">
                <a:solidFill>
                  <a:srgbClr val="16324F"/>
                </a:solidFill>
                <a:latin typeface="Inter"/>
                <a:ea typeface="Inter"/>
                <a:cs typeface="Inter"/>
              </a:defRPr>
            </a:lvl7pPr>
            <a:lvl8pPr>
              <a:defRPr sz="3000" b="0">
                <a:solidFill>
                  <a:srgbClr val="16324F"/>
                </a:solidFill>
                <a:latin typeface="Inter"/>
                <a:ea typeface="Inter"/>
                <a:cs typeface="Inter"/>
              </a:defRPr>
            </a:lvl8pPr>
            <a:lvl9pPr>
              <a:defRPr sz="3000" b="0">
                <a:solidFill>
                  <a:srgbClr val="16324F"/>
                </a:solidFill>
                <a:latin typeface="Inter"/>
                <a:ea typeface="Inter"/>
                <a:cs typeface="Inter"/>
              </a:defRPr>
            </a:lvl9pPr>
          </a:lstStyle>
          <a:p xmlns:a="http://schemas.openxmlformats.org/drawingml/2006/main">
            <a:pPr>
              <a:defRPr sz="3000" b="0">
                <a:solidFill>
                  <a:srgbClr val="16324F"/>
                </a:solidFill>
                <a:latin typeface="Inter"/>
                <a:ea typeface="Inter"/>
                <a:cs typeface="Inter"/>
              </a:defRPr>
            </a:pPr>
            <a:r>
              <a:rPr sz="3000" b="0">
                <a:solidFill>
                  <a:srgbClr val="16324F"/>
                </a:solidFill>
                <a:latin typeface="Inter"/>
                <a:ea typeface="Inter"/>
                <a:cs typeface="Inter"/>
              </a:rPr>
              <a:t>Tháng 1–3 xây MVP. Tháng 4–6 đo pilot.</a:t>
            </a:r>
          </a:p>
        </p:txBody>
      </p:sp>
      <p:sp>
        <p:nvSpPr>
          <p:cNvPr id="4" name="assumption">
            <a:extLst xmlns:a="http://schemas.openxmlformats.org/drawingml/2006/main">
              <a:ext uri="{FF2B5EF4-FFF2-40B4-BE49-F238E27FC236}">
                <a16:creationId xmlns:a16="http://schemas.microsoft.com/office/drawing/2014/main" id="{7F0E0E1E-3C29-4F30-999E-6FBC31232245}"/>
              </a:ext>
            </a:extLst>
          </p:cNvPr>
          <p:cNvSpPr>
            <a:spLocks xmlns:a="http://schemas.openxmlformats.org/drawingml/2006/main" noGrp="1"/>
          </p:cNvSpPr>
          <p:nvPr/>
        </p:nvSpPr>
        <p:spPr>
          <a:xfrm xmlns:a="http://schemas.openxmlformats.org/drawingml/2006/main">
            <a:off x="800100" y="5905500"/>
            <a:ext cx="1000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000" b="0">
                <a:solidFill>
                  <a:srgbClr val="156F63"/>
                </a:solidFill>
                <a:latin typeface="Inter"/>
                <a:ea typeface="Inter"/>
                <a:cs typeface="Inter"/>
              </a:defRPr>
            </a:defPPr>
            <a:lvl1pPr>
              <a:defRPr sz="3000" b="0">
                <a:solidFill>
                  <a:srgbClr val="156F63"/>
                </a:solidFill>
                <a:latin typeface="Inter"/>
                <a:ea typeface="Inter"/>
                <a:cs typeface="Inter"/>
              </a:defRPr>
            </a:lvl1pPr>
            <a:lvl2pPr>
              <a:defRPr sz="3000" b="0">
                <a:solidFill>
                  <a:srgbClr val="156F63"/>
                </a:solidFill>
                <a:latin typeface="Inter"/>
                <a:ea typeface="Inter"/>
                <a:cs typeface="Inter"/>
              </a:defRPr>
            </a:lvl2pPr>
            <a:lvl3pPr>
              <a:defRPr sz="3000" b="0">
                <a:solidFill>
                  <a:srgbClr val="156F63"/>
                </a:solidFill>
                <a:latin typeface="Inter"/>
                <a:ea typeface="Inter"/>
                <a:cs typeface="Inter"/>
              </a:defRPr>
            </a:lvl3pPr>
            <a:lvl4pPr>
              <a:defRPr sz="3000" b="0">
                <a:solidFill>
                  <a:srgbClr val="156F63"/>
                </a:solidFill>
                <a:latin typeface="Inter"/>
                <a:ea typeface="Inter"/>
                <a:cs typeface="Inter"/>
              </a:defRPr>
            </a:lvl4pPr>
            <a:lvl5pPr>
              <a:defRPr sz="3000" b="0">
                <a:solidFill>
                  <a:srgbClr val="156F63"/>
                </a:solidFill>
                <a:latin typeface="Inter"/>
                <a:ea typeface="Inter"/>
                <a:cs typeface="Inter"/>
              </a:defRPr>
            </a:lvl5pPr>
            <a:lvl6pPr>
              <a:defRPr sz="3000" b="0">
                <a:solidFill>
                  <a:srgbClr val="156F63"/>
                </a:solidFill>
                <a:latin typeface="Inter"/>
                <a:ea typeface="Inter"/>
                <a:cs typeface="Inter"/>
              </a:defRPr>
            </a:lvl6pPr>
            <a:lvl7pPr>
              <a:defRPr sz="3000" b="0">
                <a:solidFill>
                  <a:srgbClr val="156F63"/>
                </a:solidFill>
                <a:latin typeface="Inter"/>
                <a:ea typeface="Inter"/>
                <a:cs typeface="Inter"/>
              </a:defRPr>
            </a:lvl7pPr>
            <a:lvl8pPr>
              <a:defRPr sz="3000" b="0">
                <a:solidFill>
                  <a:srgbClr val="156F63"/>
                </a:solidFill>
                <a:latin typeface="Inter"/>
                <a:ea typeface="Inter"/>
                <a:cs typeface="Inter"/>
              </a:defRPr>
            </a:lvl8pPr>
            <a:lvl9pPr>
              <a:defRPr sz="3000" b="0">
                <a:solidFill>
                  <a:srgbClr val="156F63"/>
                </a:solidFill>
                <a:latin typeface="Inter"/>
                <a:ea typeface="Inter"/>
                <a:cs typeface="Inter"/>
              </a:defRPr>
            </a:lvl9pPr>
          </a:lstStyle>
          <a:p xmlns:a="http://schemas.openxmlformats.org/drawingml/2006/main">
            <a:pPr>
              <a:defRPr sz="3000" b="0">
                <a:solidFill>
                  <a:srgbClr val="156F63"/>
                </a:solidFill>
                <a:latin typeface="Inter"/>
                <a:ea typeface="Inter"/>
                <a:cs typeface="Inter"/>
              </a:defRPr>
            </a:pPr>
            <a:r>
              <a:rPr sz="3000" b="0">
                <a:solidFill>
                  <a:srgbClr val="156F63"/>
                </a:solidFill>
                <a:latin typeface="Inter"/>
                <a:ea typeface="Inter"/>
                <a:cs typeface="Inter"/>
              </a:rPr>
              <a:t>Kế hoạch triển khai</a:t>
            </a:r>
          </a:p>
        </p:txBody>
      </p:sp>
    </p:spTree>
    <p:extLst>
      <p:ext uri="{BB962C8B-B14F-4D97-AF65-F5344CB8AC3E}">
        <p14:creationId xmlns:p14="http://schemas.microsoft.com/office/powerpoint/2010/main" val="332296529"/>
      </p:ext>
    </p:extLst>
  </p:cSld>
</p:sld>
</file>

<file path=ppt/slides/slide9.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0E70122-7292-420B-877D-09F704F34E52}"/>
              </a:ext>
            </a:extLst>
          </p:cNvPr>
          <p:cNvSpPr>
            <a:spLocks xmlns:a="http://schemas.openxmlformats.org/drawingml/2006/main" noGrp="1"/>
          </p:cNvSpPr>
          <p:nvPr/>
        </p:nvSpPr>
        <p:spPr>
          <a:xfrm xmlns:a="http://schemas.openxmlformats.org/drawingml/2006/main">
            <a:off x="762000" y="55245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300" b="1">
                <a:solidFill>
                  <a:srgbClr val="16324F"/>
                </a:solidFill>
                <a:latin typeface="Inter"/>
                <a:ea typeface="Inter"/>
                <a:cs typeface="Inter"/>
              </a:defRPr>
            </a:defPPr>
            <a:lvl1pPr>
              <a:defRPr sz="3300" b="1">
                <a:solidFill>
                  <a:srgbClr val="16324F"/>
                </a:solidFill>
                <a:latin typeface="Inter"/>
                <a:ea typeface="Inter"/>
                <a:cs typeface="Inter"/>
              </a:defRPr>
            </a:lvl1pPr>
            <a:lvl2pPr>
              <a:defRPr sz="3300" b="1">
                <a:solidFill>
                  <a:srgbClr val="16324F"/>
                </a:solidFill>
                <a:latin typeface="Inter"/>
                <a:ea typeface="Inter"/>
                <a:cs typeface="Inter"/>
              </a:defRPr>
            </a:lvl2pPr>
            <a:lvl3pPr>
              <a:defRPr sz="3300" b="1">
                <a:solidFill>
                  <a:srgbClr val="16324F"/>
                </a:solidFill>
                <a:latin typeface="Inter"/>
                <a:ea typeface="Inter"/>
                <a:cs typeface="Inter"/>
              </a:defRPr>
            </a:lvl3pPr>
            <a:lvl4pPr>
              <a:defRPr sz="3300" b="1">
                <a:solidFill>
                  <a:srgbClr val="16324F"/>
                </a:solidFill>
                <a:latin typeface="Inter"/>
                <a:ea typeface="Inter"/>
                <a:cs typeface="Inter"/>
              </a:defRPr>
            </a:lvl4pPr>
            <a:lvl5pPr>
              <a:defRPr sz="3300" b="1">
                <a:solidFill>
                  <a:srgbClr val="16324F"/>
                </a:solidFill>
                <a:latin typeface="Inter"/>
                <a:ea typeface="Inter"/>
                <a:cs typeface="Inter"/>
              </a:defRPr>
            </a:lvl5pPr>
            <a:lvl6pPr>
              <a:defRPr sz="3300" b="1">
                <a:solidFill>
                  <a:srgbClr val="16324F"/>
                </a:solidFill>
                <a:latin typeface="Inter"/>
                <a:ea typeface="Inter"/>
                <a:cs typeface="Inter"/>
              </a:defRPr>
            </a:lvl6pPr>
            <a:lvl7pPr>
              <a:defRPr sz="3300" b="1">
                <a:solidFill>
                  <a:srgbClr val="16324F"/>
                </a:solidFill>
                <a:latin typeface="Inter"/>
                <a:ea typeface="Inter"/>
                <a:cs typeface="Inter"/>
              </a:defRPr>
            </a:lvl7pPr>
            <a:lvl8pPr>
              <a:defRPr sz="3300" b="1">
                <a:solidFill>
                  <a:srgbClr val="16324F"/>
                </a:solidFill>
                <a:latin typeface="Inter"/>
                <a:ea typeface="Inter"/>
                <a:cs typeface="Inter"/>
              </a:defRPr>
            </a:lvl8pPr>
            <a:lvl9pPr>
              <a:defRPr sz="3300" b="1">
                <a:solidFill>
                  <a:srgbClr val="16324F"/>
                </a:solidFill>
                <a:latin typeface="Inter"/>
                <a:ea typeface="Inter"/>
                <a:cs typeface="Inter"/>
              </a:defRPr>
            </a:lvl9pPr>
          </a:lstStyle>
          <a:p xmlns:a="http://schemas.openxmlformats.org/drawingml/2006/main">
            <a:pPr>
              <a:defRPr sz="3300" b="1">
                <a:solidFill>
                  <a:srgbClr val="16324F"/>
                </a:solidFill>
                <a:latin typeface="Inter"/>
                <a:ea typeface="Inter"/>
                <a:cs typeface="Inter"/>
              </a:defRPr>
            </a:pPr>
            <a:r>
              <a:rPr sz="3300" b="1">
                <a:solidFill>
                  <a:srgbClr val="16324F"/>
                </a:solidFill>
                <a:latin typeface="Inter"/>
                <a:ea typeface="Inter"/>
                <a:cs typeface="Inter"/>
              </a:rPr>
              <a:t>Điều kiện để mở rộng</a:t>
            </a:r>
          </a:p>
        </p:txBody>
      </p:sp>
      <p:sp>
        <p:nvSpPr>
          <p:cNvPr id="2" name="main-message">
            <a:extLst xmlns:a="http://schemas.openxmlformats.org/drawingml/2006/main">
              <a:ext uri="{FF2B5EF4-FFF2-40B4-BE49-F238E27FC236}">
                <a16:creationId xmlns:a16="http://schemas.microsoft.com/office/drawing/2014/main" id="{F6B070B9-78A0-46FF-9F1C-2AEEFD6C2ACA}"/>
              </a:ext>
            </a:extLst>
          </p:cNvPr>
          <p:cNvSpPr>
            <a:spLocks xmlns:a="http://schemas.openxmlformats.org/drawingml/2006/main" noGrp="1"/>
          </p:cNvSpPr>
          <p:nvPr/>
        </p:nvSpPr>
        <p:spPr>
          <a:xfrm xmlns:a="http://schemas.openxmlformats.org/drawingml/2006/main">
            <a:off x="762000" y="1762125"/>
            <a:ext cx="106680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4950" b="1">
                <a:solidFill>
                  <a:srgbClr val="16324F"/>
                </a:solidFill>
                <a:latin typeface="Inter"/>
                <a:ea typeface="Inter"/>
                <a:cs typeface="Inter"/>
              </a:defRPr>
            </a:defPPr>
            <a:lvl1pPr>
              <a:defRPr sz="4950" b="1">
                <a:solidFill>
                  <a:srgbClr val="16324F"/>
                </a:solidFill>
                <a:latin typeface="Inter"/>
                <a:ea typeface="Inter"/>
                <a:cs typeface="Inter"/>
              </a:defRPr>
            </a:lvl1pPr>
            <a:lvl2pPr>
              <a:defRPr sz="4950" b="1">
                <a:solidFill>
                  <a:srgbClr val="16324F"/>
                </a:solidFill>
                <a:latin typeface="Inter"/>
                <a:ea typeface="Inter"/>
                <a:cs typeface="Inter"/>
              </a:defRPr>
            </a:lvl2pPr>
            <a:lvl3pPr>
              <a:defRPr sz="4950" b="1">
                <a:solidFill>
                  <a:srgbClr val="16324F"/>
                </a:solidFill>
                <a:latin typeface="Inter"/>
                <a:ea typeface="Inter"/>
                <a:cs typeface="Inter"/>
              </a:defRPr>
            </a:lvl3pPr>
            <a:lvl4pPr>
              <a:defRPr sz="4950" b="1">
                <a:solidFill>
                  <a:srgbClr val="16324F"/>
                </a:solidFill>
                <a:latin typeface="Inter"/>
                <a:ea typeface="Inter"/>
                <a:cs typeface="Inter"/>
              </a:defRPr>
            </a:lvl4pPr>
            <a:lvl5pPr>
              <a:defRPr sz="4950" b="1">
                <a:solidFill>
                  <a:srgbClr val="16324F"/>
                </a:solidFill>
                <a:latin typeface="Inter"/>
                <a:ea typeface="Inter"/>
                <a:cs typeface="Inter"/>
              </a:defRPr>
            </a:lvl5pPr>
            <a:lvl6pPr>
              <a:defRPr sz="4950" b="1">
                <a:solidFill>
                  <a:srgbClr val="16324F"/>
                </a:solidFill>
                <a:latin typeface="Inter"/>
                <a:ea typeface="Inter"/>
                <a:cs typeface="Inter"/>
              </a:defRPr>
            </a:lvl6pPr>
            <a:lvl7pPr>
              <a:defRPr sz="4950" b="1">
                <a:solidFill>
                  <a:srgbClr val="16324F"/>
                </a:solidFill>
                <a:latin typeface="Inter"/>
                <a:ea typeface="Inter"/>
                <a:cs typeface="Inter"/>
              </a:defRPr>
            </a:lvl7pPr>
            <a:lvl8pPr>
              <a:defRPr sz="4950" b="1">
                <a:solidFill>
                  <a:srgbClr val="16324F"/>
                </a:solidFill>
                <a:latin typeface="Inter"/>
                <a:ea typeface="Inter"/>
                <a:cs typeface="Inter"/>
              </a:defRPr>
            </a:lvl8pPr>
            <a:lvl9pPr>
              <a:defRPr sz="4950" b="1">
                <a:solidFill>
                  <a:srgbClr val="16324F"/>
                </a:solidFill>
                <a:latin typeface="Inter"/>
                <a:ea typeface="Inter"/>
                <a:cs typeface="Inter"/>
              </a:defRPr>
            </a:lvl9pPr>
          </a:lstStyle>
          <a:p xmlns:a="http://schemas.openxmlformats.org/drawingml/2006/main">
            <a:pPr>
              <a:defRPr sz="4950" b="1">
                <a:solidFill>
                  <a:srgbClr val="16324F"/>
                </a:solidFill>
                <a:latin typeface="Inter"/>
                <a:ea typeface="Inter"/>
                <a:cs typeface="Inter"/>
              </a:defRPr>
            </a:pPr>
            <a:r>
              <a:rPr sz="4950" b="1">
                <a:solidFill>
                  <a:srgbClr val="16324F"/>
                </a:solidFill>
                <a:latin typeface="Inter"/>
                <a:ea typeface="Inter"/>
                <a:cs typeface="Inter"/>
              </a:rPr>
              <a:t>Pilot phải chứng minh</a:t>
            </a:r>
          </a:p>
          <a:p xmlns:a="http://schemas.openxmlformats.org/drawingml/2006/main">
            <a:pPr>
              <a:defRPr sz="4950" b="1">
                <a:solidFill>
                  <a:srgbClr val="16324F"/>
                </a:solidFill>
                <a:latin typeface="Inter"/>
                <a:ea typeface="Inter"/>
                <a:cs typeface="Inter"/>
              </a:defRPr>
            </a:pPr>
            <a:r>
              <a:rPr sz="4950" b="1">
                <a:solidFill>
                  <a:srgbClr val="16324F"/>
                </a:solidFill>
                <a:latin typeface="Inter"/>
                <a:ea typeface="Inter"/>
                <a:cs typeface="Inter"/>
              </a:rPr>
              <a:t>khả năng vận hành</a:t>
            </a:r>
          </a:p>
        </p:txBody>
      </p:sp>
      <p:sp>
        <p:nvSpPr>
          <p:cNvPr id="3" name="support">
            <a:extLst xmlns:a="http://schemas.openxmlformats.org/drawingml/2006/main">
              <a:ext uri="{FF2B5EF4-FFF2-40B4-BE49-F238E27FC236}">
                <a16:creationId xmlns:a16="http://schemas.microsoft.com/office/drawing/2014/main" id="{68A77739-6D5A-4747-92E8-402027B5E73A}"/>
              </a:ext>
            </a:extLst>
          </p:cNvPr>
          <p:cNvSpPr>
            <a:spLocks xmlns:a="http://schemas.openxmlformats.org/drawingml/2006/main" noGrp="1"/>
          </p:cNvSpPr>
          <p:nvPr/>
        </p:nvSpPr>
        <p:spPr>
          <a:xfrm xmlns:a="http://schemas.openxmlformats.org/drawingml/2006/main">
            <a:off x="800100" y="4438650"/>
            <a:ext cx="10572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000" b="0">
                <a:solidFill>
                  <a:srgbClr val="16324F"/>
                </a:solidFill>
                <a:latin typeface="Inter"/>
                <a:ea typeface="Inter"/>
                <a:cs typeface="Inter"/>
              </a:defRPr>
            </a:defPPr>
            <a:lvl1pPr>
              <a:defRPr sz="3000" b="0">
                <a:solidFill>
                  <a:srgbClr val="16324F"/>
                </a:solidFill>
                <a:latin typeface="Inter"/>
                <a:ea typeface="Inter"/>
                <a:cs typeface="Inter"/>
              </a:defRPr>
            </a:lvl1pPr>
            <a:lvl2pPr>
              <a:defRPr sz="3000" b="0">
                <a:solidFill>
                  <a:srgbClr val="16324F"/>
                </a:solidFill>
                <a:latin typeface="Inter"/>
                <a:ea typeface="Inter"/>
                <a:cs typeface="Inter"/>
              </a:defRPr>
            </a:lvl2pPr>
            <a:lvl3pPr>
              <a:defRPr sz="3000" b="0">
                <a:solidFill>
                  <a:srgbClr val="16324F"/>
                </a:solidFill>
                <a:latin typeface="Inter"/>
                <a:ea typeface="Inter"/>
                <a:cs typeface="Inter"/>
              </a:defRPr>
            </a:lvl3pPr>
            <a:lvl4pPr>
              <a:defRPr sz="3000" b="0">
                <a:solidFill>
                  <a:srgbClr val="16324F"/>
                </a:solidFill>
                <a:latin typeface="Inter"/>
                <a:ea typeface="Inter"/>
                <a:cs typeface="Inter"/>
              </a:defRPr>
            </a:lvl4pPr>
            <a:lvl5pPr>
              <a:defRPr sz="3000" b="0">
                <a:solidFill>
                  <a:srgbClr val="16324F"/>
                </a:solidFill>
                <a:latin typeface="Inter"/>
                <a:ea typeface="Inter"/>
                <a:cs typeface="Inter"/>
              </a:defRPr>
            </a:lvl5pPr>
            <a:lvl6pPr>
              <a:defRPr sz="3000" b="0">
                <a:solidFill>
                  <a:srgbClr val="16324F"/>
                </a:solidFill>
                <a:latin typeface="Inter"/>
                <a:ea typeface="Inter"/>
                <a:cs typeface="Inter"/>
              </a:defRPr>
            </a:lvl6pPr>
            <a:lvl7pPr>
              <a:defRPr sz="3000" b="0">
                <a:solidFill>
                  <a:srgbClr val="16324F"/>
                </a:solidFill>
                <a:latin typeface="Inter"/>
                <a:ea typeface="Inter"/>
                <a:cs typeface="Inter"/>
              </a:defRPr>
            </a:lvl7pPr>
            <a:lvl8pPr>
              <a:defRPr sz="3000" b="0">
                <a:solidFill>
                  <a:srgbClr val="16324F"/>
                </a:solidFill>
                <a:latin typeface="Inter"/>
                <a:ea typeface="Inter"/>
                <a:cs typeface="Inter"/>
              </a:defRPr>
            </a:lvl8pPr>
            <a:lvl9pPr>
              <a:defRPr sz="3000" b="0">
                <a:solidFill>
                  <a:srgbClr val="16324F"/>
                </a:solidFill>
                <a:latin typeface="Inter"/>
                <a:ea typeface="Inter"/>
                <a:cs typeface="Inter"/>
              </a:defRPr>
            </a:lvl9pPr>
          </a:lstStyle>
          <a:p xmlns:a="http://schemas.openxmlformats.org/drawingml/2006/main">
            <a:pPr>
              <a:defRPr sz="3000" b="0">
                <a:solidFill>
                  <a:srgbClr val="16324F"/>
                </a:solidFill>
                <a:latin typeface="Inter"/>
                <a:ea typeface="Inter"/>
                <a:cs typeface="Inter"/>
              </a:defRPr>
            </a:pPr>
            <a:r>
              <a:rPr sz="3000" b="0">
                <a:solidFill>
                  <a:srgbClr val="16324F"/>
                </a:solidFill>
                <a:latin typeface="Inter"/>
                <a:ea typeface="Inter"/>
                <a:cs typeface="Inter"/>
              </a:rPr>
              <a:t>Cần hồ sơ phù hợp và xử lý trọn vẹn một phiên.</a:t>
            </a:r>
          </a:p>
        </p:txBody>
      </p:sp>
      <p:sp>
        <p:nvSpPr>
          <p:cNvPr id="4" name="assumption">
            <a:extLst xmlns:a="http://schemas.openxmlformats.org/drawingml/2006/main">
              <a:ext uri="{FF2B5EF4-FFF2-40B4-BE49-F238E27FC236}">
                <a16:creationId xmlns:a16="http://schemas.microsoft.com/office/drawing/2014/main" id="{704DCB2A-DCA2-49CF-B6D9-9A95A4D01F0D}"/>
              </a:ext>
            </a:extLst>
          </p:cNvPr>
          <p:cNvSpPr>
            <a:spLocks xmlns:a="http://schemas.openxmlformats.org/drawingml/2006/main" noGrp="1"/>
          </p:cNvSpPr>
          <p:nvPr/>
        </p:nvSpPr>
        <p:spPr>
          <a:xfrm xmlns:a="http://schemas.openxmlformats.org/drawingml/2006/main">
            <a:off x="800100" y="5905500"/>
            <a:ext cx="1000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000" b="0">
                <a:solidFill>
                  <a:srgbClr val="156F63"/>
                </a:solidFill>
                <a:latin typeface="Inter"/>
                <a:ea typeface="Inter"/>
                <a:cs typeface="Inter"/>
              </a:defRPr>
            </a:defPPr>
            <a:lvl1pPr>
              <a:defRPr sz="3000" b="0">
                <a:solidFill>
                  <a:srgbClr val="156F63"/>
                </a:solidFill>
                <a:latin typeface="Inter"/>
                <a:ea typeface="Inter"/>
                <a:cs typeface="Inter"/>
              </a:defRPr>
            </a:lvl1pPr>
            <a:lvl2pPr>
              <a:defRPr sz="3000" b="0">
                <a:solidFill>
                  <a:srgbClr val="156F63"/>
                </a:solidFill>
                <a:latin typeface="Inter"/>
                <a:ea typeface="Inter"/>
                <a:cs typeface="Inter"/>
              </a:defRPr>
            </a:lvl2pPr>
            <a:lvl3pPr>
              <a:defRPr sz="3000" b="0">
                <a:solidFill>
                  <a:srgbClr val="156F63"/>
                </a:solidFill>
                <a:latin typeface="Inter"/>
                <a:ea typeface="Inter"/>
                <a:cs typeface="Inter"/>
              </a:defRPr>
            </a:lvl3pPr>
            <a:lvl4pPr>
              <a:defRPr sz="3000" b="0">
                <a:solidFill>
                  <a:srgbClr val="156F63"/>
                </a:solidFill>
                <a:latin typeface="Inter"/>
                <a:ea typeface="Inter"/>
                <a:cs typeface="Inter"/>
              </a:defRPr>
            </a:lvl4pPr>
            <a:lvl5pPr>
              <a:defRPr sz="3000" b="0">
                <a:solidFill>
                  <a:srgbClr val="156F63"/>
                </a:solidFill>
                <a:latin typeface="Inter"/>
                <a:ea typeface="Inter"/>
                <a:cs typeface="Inter"/>
              </a:defRPr>
            </a:lvl5pPr>
            <a:lvl6pPr>
              <a:defRPr sz="3000" b="0">
                <a:solidFill>
                  <a:srgbClr val="156F63"/>
                </a:solidFill>
                <a:latin typeface="Inter"/>
                <a:ea typeface="Inter"/>
                <a:cs typeface="Inter"/>
              </a:defRPr>
            </a:lvl6pPr>
            <a:lvl7pPr>
              <a:defRPr sz="3000" b="0">
                <a:solidFill>
                  <a:srgbClr val="156F63"/>
                </a:solidFill>
                <a:latin typeface="Inter"/>
                <a:ea typeface="Inter"/>
                <a:cs typeface="Inter"/>
              </a:defRPr>
            </a:lvl7pPr>
            <a:lvl8pPr>
              <a:defRPr sz="3000" b="0">
                <a:solidFill>
                  <a:srgbClr val="156F63"/>
                </a:solidFill>
                <a:latin typeface="Inter"/>
                <a:ea typeface="Inter"/>
                <a:cs typeface="Inter"/>
              </a:defRPr>
            </a:lvl8pPr>
            <a:lvl9pPr>
              <a:defRPr sz="3000" b="0">
                <a:solidFill>
                  <a:srgbClr val="156F63"/>
                </a:solidFill>
                <a:latin typeface="Inter"/>
                <a:ea typeface="Inter"/>
                <a:cs typeface="Inter"/>
              </a:defRPr>
            </a:lvl9pPr>
          </a:lstStyle>
          <a:p xmlns:a="http://schemas.openxmlformats.org/drawingml/2006/main">
            <a:pPr>
              <a:defRPr sz="3000" b="0">
                <a:solidFill>
                  <a:srgbClr val="156F63"/>
                </a:solidFill>
                <a:latin typeface="Inter"/>
                <a:ea typeface="Inter"/>
                <a:cs typeface="Inter"/>
              </a:defRPr>
            </a:pPr>
            <a:r>
              <a:rPr sz="3000" b="0">
                <a:solidFill>
                  <a:srgbClr val="156F63"/>
                </a:solidFill>
                <a:latin typeface="Inter"/>
                <a:ea typeface="Inter"/>
                <a:cs typeface="Inter"/>
              </a:rPr>
              <a:t>Rủi ro và điều kiện triển khai</a:t>
            </a:r>
          </a:p>
        </p:txBody>
      </p:sp>
    </p:spTree>
    <p:extLst>
      <p:ext uri="{BB962C8B-B14F-4D97-AF65-F5344CB8AC3E}">
        <p14:creationId xmlns:p14="http://schemas.microsoft.com/office/powerpoint/2010/main" val="972659872"/>
      </p:ext>
    </p:extLst>
  </p:cSld>
</p:sld>
</file>

<file path=ppt/slides/slide10.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1E9A6A5-86AD-4CB6-9DD5-9B4D81013132}"/>
              </a:ext>
            </a:extLst>
          </p:cNvPr>
          <p:cNvSpPr>
            <a:spLocks xmlns:a="http://schemas.openxmlformats.org/drawingml/2006/main" noGrp="1"/>
          </p:cNvSpPr>
          <p:nvPr/>
        </p:nvSpPr>
        <p:spPr>
          <a:xfrm xmlns:a="http://schemas.openxmlformats.org/drawingml/2006/main">
            <a:off x="762000" y="55245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300" b="1">
                <a:solidFill>
                  <a:srgbClr val="FFFFFF"/>
                </a:solidFill>
                <a:latin typeface="Inter"/>
                <a:ea typeface="Inter"/>
                <a:cs typeface="Inter"/>
              </a:defRPr>
            </a:defPPr>
            <a:lvl1pPr>
              <a:defRPr sz="3300" b="1">
                <a:solidFill>
                  <a:srgbClr val="FFFFFF"/>
                </a:solidFill>
                <a:latin typeface="Inter"/>
                <a:ea typeface="Inter"/>
                <a:cs typeface="Inter"/>
              </a:defRPr>
            </a:lvl1pPr>
            <a:lvl2pPr>
              <a:defRPr sz="3300" b="1">
                <a:solidFill>
                  <a:srgbClr val="FFFFFF"/>
                </a:solidFill>
                <a:latin typeface="Inter"/>
                <a:ea typeface="Inter"/>
                <a:cs typeface="Inter"/>
              </a:defRPr>
            </a:lvl2pPr>
            <a:lvl3pPr>
              <a:defRPr sz="3300" b="1">
                <a:solidFill>
                  <a:srgbClr val="FFFFFF"/>
                </a:solidFill>
                <a:latin typeface="Inter"/>
                <a:ea typeface="Inter"/>
                <a:cs typeface="Inter"/>
              </a:defRPr>
            </a:lvl3pPr>
            <a:lvl4pPr>
              <a:defRPr sz="3300" b="1">
                <a:solidFill>
                  <a:srgbClr val="FFFFFF"/>
                </a:solidFill>
                <a:latin typeface="Inter"/>
                <a:ea typeface="Inter"/>
                <a:cs typeface="Inter"/>
              </a:defRPr>
            </a:lvl4pPr>
            <a:lvl5pPr>
              <a:defRPr sz="3300" b="1">
                <a:solidFill>
                  <a:srgbClr val="FFFFFF"/>
                </a:solidFill>
                <a:latin typeface="Inter"/>
                <a:ea typeface="Inter"/>
                <a:cs typeface="Inter"/>
              </a:defRPr>
            </a:lvl5pPr>
            <a:lvl6pPr>
              <a:defRPr sz="3300" b="1">
                <a:solidFill>
                  <a:srgbClr val="FFFFFF"/>
                </a:solidFill>
                <a:latin typeface="Inter"/>
                <a:ea typeface="Inter"/>
                <a:cs typeface="Inter"/>
              </a:defRPr>
            </a:lvl6pPr>
            <a:lvl7pPr>
              <a:defRPr sz="3300" b="1">
                <a:solidFill>
                  <a:srgbClr val="FFFFFF"/>
                </a:solidFill>
                <a:latin typeface="Inter"/>
                <a:ea typeface="Inter"/>
                <a:cs typeface="Inter"/>
              </a:defRPr>
            </a:lvl7pPr>
            <a:lvl8pPr>
              <a:defRPr sz="3300" b="1">
                <a:solidFill>
                  <a:srgbClr val="FFFFFF"/>
                </a:solidFill>
                <a:latin typeface="Inter"/>
                <a:ea typeface="Inter"/>
                <a:cs typeface="Inter"/>
              </a:defRPr>
            </a:lvl8pPr>
            <a:lvl9pPr>
              <a:defRPr sz="3300" b="1">
                <a:solidFill>
                  <a:srgbClr val="FFFFFF"/>
                </a:solidFill>
                <a:latin typeface="Inter"/>
                <a:ea typeface="Inter"/>
                <a:cs typeface="Inter"/>
              </a:defRPr>
            </a:lvl9pPr>
          </a:lstStyle>
          <a:p xmlns:a="http://schemas.openxmlformats.org/drawingml/2006/main">
            <a:pPr>
              <a:defRPr sz="3300" b="1">
                <a:solidFill>
                  <a:srgbClr val="FFFFFF"/>
                </a:solidFill>
                <a:latin typeface="Inter"/>
                <a:ea typeface="Inter"/>
                <a:cs typeface="Inter"/>
              </a:defRPr>
            </a:pPr>
            <a:r>
              <a:rPr sz="3300" b="1">
                <a:solidFill>
                  <a:srgbClr val="FFFFFF"/>
                </a:solidFill>
                <a:latin typeface="Inter"/>
                <a:ea typeface="Inter"/>
                <a:cs typeface="Inter"/>
              </a:rPr>
              <a:t>Đề xuất gọi vốn</a:t>
            </a:r>
          </a:p>
        </p:txBody>
      </p:sp>
      <p:sp>
        <p:nvSpPr>
          <p:cNvPr id="2" name="main-message">
            <a:extLst xmlns:a="http://schemas.openxmlformats.org/drawingml/2006/main">
              <a:ext uri="{FF2B5EF4-FFF2-40B4-BE49-F238E27FC236}">
                <a16:creationId xmlns:a16="http://schemas.microsoft.com/office/drawing/2014/main" id="{5CB91048-5D4E-4701-9D8F-7028A6914A98}"/>
              </a:ext>
            </a:extLst>
          </p:cNvPr>
          <p:cNvSpPr>
            <a:spLocks xmlns:a="http://schemas.openxmlformats.org/drawingml/2006/main" noGrp="1"/>
          </p:cNvSpPr>
          <p:nvPr/>
        </p:nvSpPr>
        <p:spPr>
          <a:xfrm xmlns:a="http://schemas.openxmlformats.org/drawingml/2006/main">
            <a:off x="762000" y="1762125"/>
            <a:ext cx="106680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4950" b="1">
                <a:solidFill>
                  <a:srgbClr val="FFFFFF"/>
                </a:solidFill>
                <a:latin typeface="Inter"/>
                <a:ea typeface="Inter"/>
                <a:cs typeface="Inter"/>
              </a:defRPr>
            </a:defPPr>
            <a:lvl1pPr>
              <a:defRPr sz="4950" b="1">
                <a:solidFill>
                  <a:srgbClr val="FFFFFF"/>
                </a:solidFill>
                <a:latin typeface="Inter"/>
                <a:ea typeface="Inter"/>
                <a:cs typeface="Inter"/>
              </a:defRPr>
            </a:lvl1pPr>
            <a:lvl2pPr>
              <a:defRPr sz="4950" b="1">
                <a:solidFill>
                  <a:srgbClr val="FFFFFF"/>
                </a:solidFill>
                <a:latin typeface="Inter"/>
                <a:ea typeface="Inter"/>
                <a:cs typeface="Inter"/>
              </a:defRPr>
            </a:lvl2pPr>
            <a:lvl3pPr>
              <a:defRPr sz="4950" b="1">
                <a:solidFill>
                  <a:srgbClr val="FFFFFF"/>
                </a:solidFill>
                <a:latin typeface="Inter"/>
                <a:ea typeface="Inter"/>
                <a:cs typeface="Inter"/>
              </a:defRPr>
            </a:lvl3pPr>
            <a:lvl4pPr>
              <a:defRPr sz="4950" b="1">
                <a:solidFill>
                  <a:srgbClr val="FFFFFF"/>
                </a:solidFill>
                <a:latin typeface="Inter"/>
                <a:ea typeface="Inter"/>
                <a:cs typeface="Inter"/>
              </a:defRPr>
            </a:lvl4pPr>
            <a:lvl5pPr>
              <a:defRPr sz="4950" b="1">
                <a:solidFill>
                  <a:srgbClr val="FFFFFF"/>
                </a:solidFill>
                <a:latin typeface="Inter"/>
                <a:ea typeface="Inter"/>
                <a:cs typeface="Inter"/>
              </a:defRPr>
            </a:lvl5pPr>
            <a:lvl6pPr>
              <a:defRPr sz="4950" b="1">
                <a:solidFill>
                  <a:srgbClr val="FFFFFF"/>
                </a:solidFill>
                <a:latin typeface="Inter"/>
                <a:ea typeface="Inter"/>
                <a:cs typeface="Inter"/>
              </a:defRPr>
            </a:lvl6pPr>
            <a:lvl7pPr>
              <a:defRPr sz="4950" b="1">
                <a:solidFill>
                  <a:srgbClr val="FFFFFF"/>
                </a:solidFill>
                <a:latin typeface="Inter"/>
                <a:ea typeface="Inter"/>
                <a:cs typeface="Inter"/>
              </a:defRPr>
            </a:lvl7pPr>
            <a:lvl8pPr>
              <a:defRPr sz="4950" b="1">
                <a:solidFill>
                  <a:srgbClr val="FFFFFF"/>
                </a:solidFill>
                <a:latin typeface="Inter"/>
                <a:ea typeface="Inter"/>
                <a:cs typeface="Inter"/>
              </a:defRPr>
            </a:lvl8pPr>
            <a:lvl9pPr>
              <a:defRPr sz="4950" b="1">
                <a:solidFill>
                  <a:srgbClr val="FFFFFF"/>
                </a:solidFill>
                <a:latin typeface="Inter"/>
                <a:ea typeface="Inter"/>
                <a:cs typeface="Inter"/>
              </a:defRPr>
            </a:lvl9pPr>
          </a:lstStyle>
          <a:p xmlns:a="http://schemas.openxmlformats.org/drawingml/2006/main">
            <a:pPr>
              <a:defRPr sz="4950" b="1">
                <a:solidFill>
                  <a:srgbClr val="FFFFFF"/>
                </a:solidFill>
                <a:latin typeface="Inter"/>
                <a:ea typeface="Inter"/>
                <a:cs typeface="Inter"/>
              </a:defRPr>
            </a:pPr>
            <a:r>
              <a:rPr sz="4950" b="1">
                <a:solidFill>
                  <a:srgbClr val="FFFFFF"/>
                </a:solidFill>
                <a:latin typeface="Inter"/>
                <a:ea typeface="Inter"/>
                <a:cs typeface="Inter"/>
              </a:rPr>
              <a:t>600 triệu đồng</a:t>
            </a:r>
          </a:p>
          <a:p xmlns:a="http://schemas.openxmlformats.org/drawingml/2006/main">
            <a:pPr>
              <a:defRPr sz="4950" b="1">
                <a:solidFill>
                  <a:srgbClr val="FFFFFF"/>
                </a:solidFill>
                <a:latin typeface="Inter"/>
                <a:ea typeface="Inter"/>
                <a:cs typeface="Inter"/>
              </a:defRPr>
            </a:pPr>
            <a:r>
              <a:rPr sz="4950" b="1">
                <a:solidFill>
                  <a:srgbClr val="FFFFFF"/>
                </a:solidFill>
                <a:latin typeface="Inter"/>
                <a:ea typeface="Inter"/>
                <a:cs typeface="Inter"/>
              </a:rPr>
              <a:t>cho sáu tháng</a:t>
            </a:r>
          </a:p>
        </p:txBody>
      </p:sp>
      <p:sp>
        <p:nvSpPr>
          <p:cNvPr id="3" name="support">
            <a:extLst xmlns:a="http://schemas.openxmlformats.org/drawingml/2006/main">
              <a:ext uri="{FF2B5EF4-FFF2-40B4-BE49-F238E27FC236}">
                <a16:creationId xmlns:a16="http://schemas.microsoft.com/office/drawing/2014/main" id="{B6D894E7-8520-4175-8ED2-E343FB54CEA6}"/>
              </a:ext>
            </a:extLst>
          </p:cNvPr>
          <p:cNvSpPr>
            <a:spLocks xmlns:a="http://schemas.openxmlformats.org/drawingml/2006/main" noGrp="1"/>
          </p:cNvSpPr>
          <p:nvPr/>
        </p:nvSpPr>
        <p:spPr>
          <a:xfrm xmlns:a="http://schemas.openxmlformats.org/drawingml/2006/main">
            <a:off x="800100" y="4438650"/>
            <a:ext cx="10572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000" b="0">
                <a:solidFill>
                  <a:srgbClr val="FFFFFF"/>
                </a:solidFill>
                <a:latin typeface="Inter"/>
                <a:ea typeface="Inter"/>
                <a:cs typeface="Inter"/>
              </a:defRPr>
            </a:defPPr>
            <a:lvl1pPr>
              <a:defRPr sz="3000" b="0">
                <a:solidFill>
                  <a:srgbClr val="FFFFFF"/>
                </a:solidFill>
                <a:latin typeface="Inter"/>
                <a:ea typeface="Inter"/>
                <a:cs typeface="Inter"/>
              </a:defRPr>
            </a:lvl1pPr>
            <a:lvl2pPr>
              <a:defRPr sz="3000" b="0">
                <a:solidFill>
                  <a:srgbClr val="FFFFFF"/>
                </a:solidFill>
                <a:latin typeface="Inter"/>
                <a:ea typeface="Inter"/>
                <a:cs typeface="Inter"/>
              </a:defRPr>
            </a:lvl2pPr>
            <a:lvl3pPr>
              <a:defRPr sz="3000" b="0">
                <a:solidFill>
                  <a:srgbClr val="FFFFFF"/>
                </a:solidFill>
                <a:latin typeface="Inter"/>
                <a:ea typeface="Inter"/>
                <a:cs typeface="Inter"/>
              </a:defRPr>
            </a:lvl3pPr>
            <a:lvl4pPr>
              <a:defRPr sz="3000" b="0">
                <a:solidFill>
                  <a:srgbClr val="FFFFFF"/>
                </a:solidFill>
                <a:latin typeface="Inter"/>
                <a:ea typeface="Inter"/>
                <a:cs typeface="Inter"/>
              </a:defRPr>
            </a:lvl4pPr>
            <a:lvl5pPr>
              <a:defRPr sz="3000" b="0">
                <a:solidFill>
                  <a:srgbClr val="FFFFFF"/>
                </a:solidFill>
                <a:latin typeface="Inter"/>
                <a:ea typeface="Inter"/>
                <a:cs typeface="Inter"/>
              </a:defRPr>
            </a:lvl5pPr>
            <a:lvl6pPr>
              <a:defRPr sz="3000" b="0">
                <a:solidFill>
                  <a:srgbClr val="FFFFFF"/>
                </a:solidFill>
                <a:latin typeface="Inter"/>
                <a:ea typeface="Inter"/>
                <a:cs typeface="Inter"/>
              </a:defRPr>
            </a:lvl6pPr>
            <a:lvl7pPr>
              <a:defRPr sz="3000" b="0">
                <a:solidFill>
                  <a:srgbClr val="FFFFFF"/>
                </a:solidFill>
                <a:latin typeface="Inter"/>
                <a:ea typeface="Inter"/>
                <a:cs typeface="Inter"/>
              </a:defRPr>
            </a:lvl7pPr>
            <a:lvl8pPr>
              <a:defRPr sz="3000" b="0">
                <a:solidFill>
                  <a:srgbClr val="FFFFFF"/>
                </a:solidFill>
                <a:latin typeface="Inter"/>
                <a:ea typeface="Inter"/>
                <a:cs typeface="Inter"/>
              </a:defRPr>
            </a:lvl8pPr>
            <a:lvl9pPr>
              <a:defRPr sz="3000" b="0">
                <a:solidFill>
                  <a:srgbClr val="FFFFFF"/>
                </a:solidFill>
                <a:latin typeface="Inter"/>
                <a:ea typeface="Inter"/>
                <a:cs typeface="Inter"/>
              </a:defRPr>
            </a:lvl9pPr>
          </a:lstStyle>
          <a:p xmlns:a="http://schemas.openxmlformats.org/drawingml/2006/main">
            <a:pPr>
              <a:defRPr sz="3000" b="0">
                <a:solidFill>
                  <a:srgbClr val="FFFFFF"/>
                </a:solidFill>
                <a:latin typeface="Inter"/>
                <a:ea typeface="Inter"/>
                <a:cs typeface="Inter"/>
              </a:defRPr>
            </a:pPr>
            <a:r>
              <a:rPr sz="3000" b="0">
                <a:solidFill>
                  <a:srgbClr val="FFFFFF"/>
                </a:solidFill>
                <a:latin typeface="Inter"/>
                <a:ea typeface="Inter"/>
                <a:cs typeface="Inter"/>
              </a:rPr>
              <a:t>360 triệu sản phẩm. 150 triệu pilot. 90 triệu dự phòng.</a:t>
            </a:r>
          </a:p>
        </p:txBody>
      </p:sp>
      <p:sp>
        <p:nvSpPr>
          <p:cNvPr id="4" name="assumption">
            <a:extLst xmlns:a="http://schemas.openxmlformats.org/drawingml/2006/main">
              <a:ext uri="{FF2B5EF4-FFF2-40B4-BE49-F238E27FC236}">
                <a16:creationId xmlns:a16="http://schemas.microsoft.com/office/drawing/2014/main" id="{F3DF8CCC-0EB8-4E7A-AFCD-B81F2283A67A}"/>
              </a:ext>
            </a:extLst>
          </p:cNvPr>
          <p:cNvSpPr>
            <a:spLocks xmlns:a="http://schemas.openxmlformats.org/drawingml/2006/main" noGrp="1"/>
          </p:cNvSpPr>
          <p:nvPr/>
        </p:nvSpPr>
        <p:spPr>
          <a:xfrm xmlns:a="http://schemas.openxmlformats.org/drawingml/2006/main">
            <a:off x="800100" y="5905500"/>
            <a:ext cx="1000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000" b="0">
                <a:solidFill>
                  <a:srgbClr val="6FE0BB"/>
                </a:solidFill>
                <a:latin typeface="Inter"/>
                <a:ea typeface="Inter"/>
                <a:cs typeface="Inter"/>
              </a:defRPr>
            </a:defPPr>
            <a:lvl1pPr>
              <a:defRPr sz="3000" b="0">
                <a:solidFill>
                  <a:srgbClr val="6FE0BB"/>
                </a:solidFill>
                <a:latin typeface="Inter"/>
                <a:ea typeface="Inter"/>
                <a:cs typeface="Inter"/>
              </a:defRPr>
            </a:lvl1pPr>
            <a:lvl2pPr>
              <a:defRPr sz="3000" b="0">
                <a:solidFill>
                  <a:srgbClr val="6FE0BB"/>
                </a:solidFill>
                <a:latin typeface="Inter"/>
                <a:ea typeface="Inter"/>
                <a:cs typeface="Inter"/>
              </a:defRPr>
            </a:lvl2pPr>
            <a:lvl3pPr>
              <a:defRPr sz="3000" b="0">
                <a:solidFill>
                  <a:srgbClr val="6FE0BB"/>
                </a:solidFill>
                <a:latin typeface="Inter"/>
                <a:ea typeface="Inter"/>
                <a:cs typeface="Inter"/>
              </a:defRPr>
            </a:lvl3pPr>
            <a:lvl4pPr>
              <a:defRPr sz="3000" b="0">
                <a:solidFill>
                  <a:srgbClr val="6FE0BB"/>
                </a:solidFill>
                <a:latin typeface="Inter"/>
                <a:ea typeface="Inter"/>
                <a:cs typeface="Inter"/>
              </a:defRPr>
            </a:lvl4pPr>
            <a:lvl5pPr>
              <a:defRPr sz="3000" b="0">
                <a:solidFill>
                  <a:srgbClr val="6FE0BB"/>
                </a:solidFill>
                <a:latin typeface="Inter"/>
                <a:ea typeface="Inter"/>
                <a:cs typeface="Inter"/>
              </a:defRPr>
            </a:lvl5pPr>
            <a:lvl6pPr>
              <a:defRPr sz="3000" b="0">
                <a:solidFill>
                  <a:srgbClr val="6FE0BB"/>
                </a:solidFill>
                <a:latin typeface="Inter"/>
                <a:ea typeface="Inter"/>
                <a:cs typeface="Inter"/>
              </a:defRPr>
            </a:lvl6pPr>
            <a:lvl7pPr>
              <a:defRPr sz="3000" b="0">
                <a:solidFill>
                  <a:srgbClr val="6FE0BB"/>
                </a:solidFill>
                <a:latin typeface="Inter"/>
                <a:ea typeface="Inter"/>
                <a:cs typeface="Inter"/>
              </a:defRPr>
            </a:lvl7pPr>
            <a:lvl8pPr>
              <a:defRPr sz="3000" b="0">
                <a:solidFill>
                  <a:srgbClr val="6FE0BB"/>
                </a:solidFill>
                <a:latin typeface="Inter"/>
                <a:ea typeface="Inter"/>
                <a:cs typeface="Inter"/>
              </a:defRPr>
            </a:lvl8pPr>
            <a:lvl9pPr>
              <a:defRPr sz="3000" b="0">
                <a:solidFill>
                  <a:srgbClr val="6FE0BB"/>
                </a:solidFill>
                <a:latin typeface="Inter"/>
                <a:ea typeface="Inter"/>
                <a:cs typeface="Inter"/>
              </a:defRPr>
            </a:lvl9pPr>
          </a:lstStyle>
          <a:p xmlns:a="http://schemas.openxmlformats.org/drawingml/2006/main">
            <a:pPr>
              <a:defRPr sz="3000" b="0">
                <a:solidFill>
                  <a:srgbClr val="6FE0BB"/>
                </a:solidFill>
                <a:latin typeface="Inter"/>
                <a:ea typeface="Inter"/>
                <a:cs typeface="Inter"/>
              </a:defRPr>
            </a:pPr>
            <a:r>
              <a:rPr sz="3000" b="0">
                <a:solidFill>
                  <a:srgbClr val="6FE0BB"/>
                </a:solidFill>
                <a:latin typeface="Inter"/>
                <a:ea typeface="Inter"/>
                <a:cs typeface="Inter"/>
              </a:rPr>
              <a:t>Ngân sách giả định</a:t>
            </a:r>
          </a:p>
        </p:txBody>
      </p:sp>
    </p:spTree>
    <p:extLst>
      <p:ext uri="{BB962C8B-B14F-4D97-AF65-F5344CB8AC3E}">
        <p14:creationId xmlns:p14="http://schemas.microsoft.com/office/powerpoint/2010/main" val="4909930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2026-10-27T04:42:00.8810000Z</dcterms:created>
  <dcterms:modified xsi:type="dcterms:W3CDTF">2026-10-27T04:42:00.8810000Z</dcterms:modified>
</coreProperties>
</file>